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936478" y="2274290"/>
            <a:ext cx="3271042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3593" y="3100120"/>
            <a:ext cx="5652134" cy="720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017325"/>
            <a:ext cx="9144000" cy="12617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64882" y="652908"/>
            <a:ext cx="3603625" cy="485140"/>
          </a:xfrm>
          <a:custGeom>
            <a:avLst/>
            <a:gdLst/>
            <a:ahLst/>
            <a:cxnLst/>
            <a:rect l="l" t="t" r="r" b="b"/>
            <a:pathLst>
              <a:path w="3603625" h="485140">
                <a:moveTo>
                  <a:pt x="0" y="80835"/>
                </a:moveTo>
                <a:lnTo>
                  <a:pt x="6394" y="49495"/>
                </a:lnTo>
                <a:lnTo>
                  <a:pt x="23789" y="23787"/>
                </a:lnTo>
                <a:lnTo>
                  <a:pt x="49498" y="6394"/>
                </a:lnTo>
                <a:lnTo>
                  <a:pt x="80838" y="0"/>
                </a:lnTo>
                <a:lnTo>
                  <a:pt x="3522497" y="0"/>
                </a:lnTo>
                <a:lnTo>
                  <a:pt x="3553837" y="6394"/>
                </a:lnTo>
                <a:lnTo>
                  <a:pt x="3579545" y="23787"/>
                </a:lnTo>
                <a:lnTo>
                  <a:pt x="3596938" y="49495"/>
                </a:lnTo>
                <a:lnTo>
                  <a:pt x="3603332" y="80835"/>
                </a:lnTo>
                <a:lnTo>
                  <a:pt x="3603332" y="404177"/>
                </a:lnTo>
                <a:lnTo>
                  <a:pt x="3596938" y="435519"/>
                </a:lnTo>
                <a:lnTo>
                  <a:pt x="3579545" y="461232"/>
                </a:lnTo>
                <a:lnTo>
                  <a:pt x="3553837" y="478629"/>
                </a:lnTo>
                <a:lnTo>
                  <a:pt x="3522497" y="485025"/>
                </a:lnTo>
                <a:lnTo>
                  <a:pt x="80838" y="485025"/>
                </a:lnTo>
                <a:lnTo>
                  <a:pt x="49498" y="478629"/>
                </a:lnTo>
                <a:lnTo>
                  <a:pt x="23789" y="461232"/>
                </a:lnTo>
                <a:lnTo>
                  <a:pt x="6394" y="435519"/>
                </a:lnTo>
                <a:lnTo>
                  <a:pt x="0" y="404177"/>
                </a:lnTo>
                <a:lnTo>
                  <a:pt x="0" y="80835"/>
                </a:lnTo>
                <a:close/>
              </a:path>
            </a:pathLst>
          </a:custGeom>
          <a:ln w="12699">
            <a:solidFill>
              <a:srgbClr val="1D62B5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5036121"/>
            <a:ext cx="9144000" cy="10737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363" y="651903"/>
            <a:ext cx="2551430" cy="344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1B3989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7818" y="1151344"/>
            <a:ext cx="4650105" cy="3225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hyperlink" Target="mailto:bhatnagaranushree16@gmail.com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nushreebhatnagar/student-resource-optimization-dashboard" TargetMode="External"/><Relationship Id="rId3" Type="http://schemas.openxmlformats.org/officeDocument/2006/relationships/hyperlink" Target="https://drive.google.com/file/d/1rsfgWNEqscs1tEyo-FiAfv-WbBLevHEK/view?usp=drivesdk" TargetMode="External"/><Relationship Id="rId4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35018" y="3060611"/>
            <a:ext cx="223329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sz="1400" spc="1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O</a:t>
            </a:r>
            <a:r>
              <a:rPr dirty="0" sz="140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N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839820" y="3060611"/>
            <a:ext cx="6432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0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dirty="0" sz="140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42279" y="3581514"/>
            <a:ext cx="1524000" cy="49339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2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Anushree</a:t>
            </a:r>
            <a:r>
              <a:rPr dirty="0" sz="1200" spc="-45" b="1">
                <a:solidFill>
                  <a:srgbClr val="0D358D"/>
                </a:solidFill>
                <a:latin typeface="Arial"/>
                <a:cs typeface="Arial"/>
              </a:rPr>
              <a:t> </a:t>
            </a: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</a:rPr>
              <a:t>Bhatnagar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9808" y="3639908"/>
            <a:ext cx="395330" cy="381800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3163379" y="3578697"/>
            <a:ext cx="2509520" cy="494030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latin typeface="Arial"/>
                <a:cs typeface="Arial"/>
              </a:rPr>
              <a:t>Student </a:t>
            </a:r>
            <a:r>
              <a:rPr dirty="0" sz="1000" spc="-10">
                <a:latin typeface="Arial"/>
                <a:cs typeface="Arial"/>
              </a:rPr>
              <a:t>Email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  <a:hlinkClick r:id="rId3"/>
              </a:rPr>
              <a:t>bhatnagaranushree16@gmail.com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7251" y="3631984"/>
            <a:ext cx="398278" cy="389724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847759" y="4273562"/>
            <a:ext cx="1176655" cy="493395"/>
          </a:xfrm>
          <a:prstGeom prst="rect">
            <a:avLst/>
          </a:prstGeom>
        </p:spPr>
        <p:txBody>
          <a:bodyPr wrap="square" lIns="0" tIns="730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dirty="0" sz="1000">
                <a:latin typeface="Arial"/>
                <a:cs typeface="Arial"/>
              </a:rPr>
              <a:t>Mentor </a:t>
            </a:r>
            <a:r>
              <a:rPr dirty="0" sz="1000" spc="-20">
                <a:latin typeface="Arial"/>
                <a:cs typeface="Arial"/>
              </a:rPr>
              <a:t>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200" b="1">
                <a:solidFill>
                  <a:srgbClr val="0D358D"/>
                </a:solidFill>
                <a:latin typeface="Arial"/>
                <a:cs typeface="Arial"/>
              </a:rPr>
              <a:t>Uma</a:t>
            </a:r>
            <a:r>
              <a:rPr dirty="0" sz="1200" spc="-10" b="1">
                <a:solidFill>
                  <a:srgbClr val="0D358D"/>
                </a:solidFill>
                <a:latin typeface="Arial"/>
                <a:cs typeface="Arial"/>
              </a:rPr>
              <a:t> Maheswari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73753" y="769747"/>
            <a:ext cx="8060055" cy="3958590"/>
            <a:chOff x="173753" y="769747"/>
            <a:chExt cx="8060055" cy="3958590"/>
          </a:xfrm>
        </p:grpSpPr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7718" y="4346943"/>
              <a:ext cx="375814" cy="381063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0732" y="769747"/>
              <a:ext cx="891539" cy="2237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97225" y="769747"/>
              <a:ext cx="795141" cy="258610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6396825" y="1149121"/>
              <a:ext cx="1837055" cy="2430780"/>
            </a:xfrm>
            <a:custGeom>
              <a:avLst/>
              <a:gdLst/>
              <a:ahLst/>
              <a:cxnLst/>
              <a:rect l="l" t="t" r="r" b="b"/>
              <a:pathLst>
                <a:path w="1837054" h="2430779">
                  <a:moveTo>
                    <a:pt x="1646605" y="60198"/>
                  </a:moveTo>
                  <a:lnTo>
                    <a:pt x="1554861" y="0"/>
                  </a:lnTo>
                  <a:lnTo>
                    <a:pt x="0" y="2370137"/>
                  </a:lnTo>
                  <a:lnTo>
                    <a:pt x="91744" y="2430322"/>
                  </a:lnTo>
                  <a:lnTo>
                    <a:pt x="1646605" y="60198"/>
                  </a:lnTo>
                  <a:close/>
                </a:path>
                <a:path w="1837054" h="2430779">
                  <a:moveTo>
                    <a:pt x="1706943" y="317398"/>
                  </a:moveTo>
                  <a:lnTo>
                    <a:pt x="1615198" y="257213"/>
                  </a:lnTo>
                  <a:lnTo>
                    <a:pt x="260972" y="2321509"/>
                  </a:lnTo>
                  <a:lnTo>
                    <a:pt x="352717" y="2381707"/>
                  </a:lnTo>
                  <a:lnTo>
                    <a:pt x="1706943" y="317398"/>
                  </a:lnTo>
                  <a:close/>
                </a:path>
                <a:path w="1837054" h="2430779">
                  <a:moveTo>
                    <a:pt x="1759521" y="585279"/>
                  </a:moveTo>
                  <a:lnTo>
                    <a:pt x="1667776" y="525094"/>
                  </a:lnTo>
                  <a:lnTo>
                    <a:pt x="514172" y="2283574"/>
                  </a:lnTo>
                  <a:lnTo>
                    <a:pt x="605917" y="2343759"/>
                  </a:lnTo>
                  <a:lnTo>
                    <a:pt x="1759521" y="585279"/>
                  </a:lnTo>
                  <a:close/>
                </a:path>
                <a:path w="1837054" h="2430779">
                  <a:moveTo>
                    <a:pt x="1836928" y="805497"/>
                  </a:moveTo>
                  <a:lnTo>
                    <a:pt x="1739709" y="741718"/>
                  </a:lnTo>
                  <a:lnTo>
                    <a:pt x="712863" y="2306993"/>
                  </a:lnTo>
                  <a:lnTo>
                    <a:pt x="810082" y="2370772"/>
                  </a:lnTo>
                  <a:lnTo>
                    <a:pt x="1836928" y="805497"/>
                  </a:lnTo>
                  <a:close/>
                </a:path>
              </a:pathLst>
            </a:custGeom>
            <a:solidFill>
              <a:srgbClr val="4FC3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3753" y="1046556"/>
              <a:ext cx="3854246" cy="184952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045" y="2088883"/>
            <a:ext cx="442531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379730">
              <a:lnSpc>
                <a:spcPct val="100000"/>
              </a:lnSpc>
              <a:spcBef>
                <a:spcPts val="100"/>
              </a:spcBef>
            </a:pPr>
            <a:r>
              <a:rPr dirty="0" u="sng"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Academic</a:t>
            </a:r>
            <a:r>
              <a:rPr dirty="0" u="sng" sz="3000" spc="-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00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Resource</a:t>
            </a:r>
            <a:r>
              <a:rPr dirty="0" sz="3000" spc="-10">
                <a:solidFill>
                  <a:srgbClr val="000000"/>
                </a:solidFill>
              </a:rPr>
              <a:t> </a:t>
            </a:r>
            <a:r>
              <a:rPr dirty="0" u="sng" sz="300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Optimization</a:t>
            </a:r>
            <a:r>
              <a:rPr dirty="0" u="sng" sz="3000" spc="-1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dirty="0" u="sng" sz="3000" spc="-1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Dashboard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Outline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3978" y="1007183"/>
            <a:ext cx="3035935" cy="3032760"/>
          </a:xfrm>
          <a:prstGeom prst="rect">
            <a:avLst/>
          </a:prstGeom>
        </p:spPr>
        <p:txBody>
          <a:bodyPr wrap="square" lIns="0" tIns="1143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Abstract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Problem </a:t>
            </a:r>
            <a:r>
              <a:rPr dirty="0" sz="1800" spc="-10">
                <a:latin typeface="Arial"/>
                <a:cs typeface="Arial"/>
              </a:rPr>
              <a:t>Statement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Proposed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Solution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System</a:t>
            </a:r>
            <a:r>
              <a:rPr dirty="0" sz="1800" spc="-10">
                <a:latin typeface="Arial"/>
                <a:cs typeface="Arial"/>
              </a:rPr>
              <a:t> Architecture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Live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Embedded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Video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Project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 spc="-10">
                <a:latin typeface="Arial"/>
                <a:cs typeface="Arial"/>
              </a:rPr>
              <a:t>Conclusion</a:t>
            </a:r>
            <a:endParaRPr sz="18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har char="•"/>
              <a:tabLst>
                <a:tab pos="240665" algn="l"/>
              </a:tabLst>
            </a:pPr>
            <a:r>
              <a:rPr dirty="0" sz="1800">
                <a:latin typeface="Arial"/>
                <a:cs typeface="Arial"/>
              </a:rPr>
              <a:t>Future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Scope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44161" y="1034324"/>
            <a:ext cx="2703358" cy="32900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Abstract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4466" y="1082800"/>
            <a:ext cx="3070453" cy="2997873"/>
          </a:xfrm>
          <a:prstGeom prst="rect">
            <a:avLst/>
          </a:prstGeom>
        </p:spPr>
      </p:pic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-7620">
              <a:lnSpc>
                <a:spcPct val="150000"/>
              </a:lnSpc>
              <a:spcBef>
                <a:spcPts val="100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Overview: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spc="-10"/>
              <a:t>AI-</a:t>
            </a:r>
            <a:r>
              <a:rPr dirty="0"/>
              <a:t>driven</a:t>
            </a:r>
            <a:r>
              <a:rPr dirty="0" spc="-10"/>
              <a:t> </a:t>
            </a:r>
            <a:r>
              <a:rPr dirty="0"/>
              <a:t>identification</a:t>
            </a:r>
            <a:r>
              <a:rPr dirty="0" spc="-10"/>
              <a:t> </a:t>
            </a:r>
            <a:r>
              <a:rPr dirty="0"/>
              <a:t>of</a:t>
            </a:r>
            <a:r>
              <a:rPr dirty="0" spc="-10"/>
              <a:t> resource-constrained students.</a:t>
            </a:r>
          </a:p>
          <a:p>
            <a:pPr marL="12700" marR="298450" indent="-7620">
              <a:lnSpc>
                <a:spcPct val="15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Objective:</a:t>
            </a:r>
            <a:r>
              <a:rPr dirty="0" spc="-35" b="1">
                <a:latin typeface="Arial"/>
                <a:cs typeface="Arial"/>
              </a:rPr>
              <a:t> </a:t>
            </a:r>
            <a:r>
              <a:rPr dirty="0"/>
              <a:t>Mapping</a:t>
            </a:r>
            <a:r>
              <a:rPr dirty="0" spc="-20"/>
              <a:t> </a:t>
            </a:r>
            <a:r>
              <a:rPr dirty="0"/>
              <a:t>resource</a:t>
            </a:r>
            <a:r>
              <a:rPr dirty="0" spc="-20"/>
              <a:t> </a:t>
            </a:r>
            <a:r>
              <a:rPr dirty="0"/>
              <a:t>gaps</a:t>
            </a:r>
            <a:r>
              <a:rPr dirty="0" spc="-20"/>
              <a:t> </a:t>
            </a:r>
            <a:r>
              <a:rPr dirty="0"/>
              <a:t>to</a:t>
            </a:r>
            <a:r>
              <a:rPr dirty="0" spc="-20"/>
              <a:t> </a:t>
            </a:r>
            <a:r>
              <a:rPr dirty="0"/>
              <a:t>performance</a:t>
            </a:r>
            <a:r>
              <a:rPr dirty="0" spc="-20"/>
              <a:t> </a:t>
            </a:r>
            <a:r>
              <a:rPr dirty="0" spc="-25"/>
              <a:t>for </a:t>
            </a:r>
            <a:r>
              <a:rPr dirty="0"/>
              <a:t>targeted</a:t>
            </a:r>
            <a:r>
              <a:rPr dirty="0" spc="-25"/>
              <a:t> </a:t>
            </a:r>
            <a:r>
              <a:rPr dirty="0" spc="-20"/>
              <a:t>aid.</a:t>
            </a: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b="1">
                <a:latin typeface="Arial"/>
                <a:cs typeface="Arial"/>
              </a:rPr>
              <a:t>Tech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Stack: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Excel</a:t>
            </a:r>
            <a:r>
              <a:rPr dirty="0" spc="-5" b="1">
                <a:latin typeface="Arial"/>
                <a:cs typeface="Arial"/>
              </a:rPr>
              <a:t> </a:t>
            </a:r>
            <a:r>
              <a:rPr dirty="0"/>
              <a:t>(Data)</a:t>
            </a:r>
            <a:r>
              <a:rPr dirty="0" spc="-15"/>
              <a:t> </a:t>
            </a:r>
            <a:r>
              <a:rPr dirty="0"/>
              <a:t>+</a:t>
            </a:r>
            <a:r>
              <a:rPr dirty="0" spc="-15"/>
              <a:t> </a:t>
            </a:r>
            <a:r>
              <a:rPr dirty="0" b="1">
                <a:latin typeface="Arial"/>
                <a:cs typeface="Arial"/>
              </a:rPr>
              <a:t>Google</a:t>
            </a:r>
            <a:r>
              <a:rPr dirty="0" spc="-1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Gemini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10"/>
              <a:t>(Logic).</a:t>
            </a:r>
          </a:p>
          <a:p>
            <a:pPr marL="12700" marR="459105" indent="-7620">
              <a:lnSpc>
                <a:spcPct val="150000"/>
              </a:lnSpc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b="1">
                <a:latin typeface="Arial"/>
                <a:cs typeface="Arial"/>
              </a:rPr>
              <a:t>	</a:t>
            </a:r>
            <a:r>
              <a:rPr dirty="0" b="1">
                <a:latin typeface="Arial"/>
                <a:cs typeface="Arial"/>
              </a:rPr>
              <a:t>Outcome: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 spc="-10"/>
              <a:t>Real-</a:t>
            </a:r>
            <a:r>
              <a:rPr dirty="0"/>
              <a:t>time</a:t>
            </a:r>
            <a:r>
              <a:rPr dirty="0" spc="-10"/>
              <a:t> </a:t>
            </a:r>
            <a:r>
              <a:rPr dirty="0"/>
              <a:t>risk</a:t>
            </a:r>
            <a:r>
              <a:rPr dirty="0" spc="-10"/>
              <a:t> </a:t>
            </a:r>
            <a:r>
              <a:rPr dirty="0"/>
              <a:t>alerts</a:t>
            </a:r>
            <a:r>
              <a:rPr dirty="0" spc="-10"/>
              <a:t> </a:t>
            </a:r>
            <a:r>
              <a:rPr dirty="0"/>
              <a:t>and</a:t>
            </a:r>
            <a:r>
              <a:rPr dirty="0" spc="-10"/>
              <a:t> </a:t>
            </a:r>
            <a:r>
              <a:rPr dirty="0"/>
              <a:t>predictive</a:t>
            </a:r>
            <a:r>
              <a:rPr dirty="0" spc="-10"/>
              <a:t> grade modeling.</a:t>
            </a:r>
          </a:p>
          <a:p>
            <a:pPr marL="74930" indent="-69850">
              <a:lnSpc>
                <a:spcPct val="100000"/>
              </a:lnSpc>
              <a:spcBef>
                <a:spcPts val="840"/>
              </a:spcBef>
              <a:buSzPct val="92857"/>
              <a:buFont typeface="Arial"/>
              <a:buChar char="•"/>
              <a:tabLst>
                <a:tab pos="74930" algn="l"/>
              </a:tabLst>
            </a:pPr>
            <a:r>
              <a:rPr dirty="0" b="1">
                <a:latin typeface="Arial"/>
                <a:cs typeface="Arial"/>
              </a:rPr>
              <a:t>Key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spc="-10" b="1">
                <a:latin typeface="Arial"/>
                <a:cs typeface="Arial"/>
              </a:rPr>
              <a:t>Highlight:</a:t>
            </a:r>
          </a:p>
          <a:p>
            <a:pPr marL="469265" marR="115570">
              <a:lnSpc>
                <a:spcPct val="150000"/>
              </a:lnSpc>
            </a:pPr>
            <a:r>
              <a:rPr dirty="0"/>
              <a:t>-</a:t>
            </a:r>
            <a:r>
              <a:rPr dirty="0" spc="-25"/>
              <a:t> </a:t>
            </a:r>
            <a:r>
              <a:rPr dirty="0" b="1">
                <a:latin typeface="Arial"/>
                <a:cs typeface="Arial"/>
              </a:rPr>
              <a:t>Actionable</a:t>
            </a:r>
            <a:r>
              <a:rPr dirty="0" spc="-20" b="1">
                <a:latin typeface="Arial"/>
                <a:cs typeface="Arial"/>
              </a:rPr>
              <a:t> </a:t>
            </a:r>
            <a:r>
              <a:rPr dirty="0" b="1">
                <a:latin typeface="Arial"/>
                <a:cs typeface="Arial"/>
              </a:rPr>
              <a:t>Impact:</a:t>
            </a:r>
            <a:r>
              <a:rPr dirty="0" spc="-15" b="1">
                <a:latin typeface="Arial"/>
                <a:cs typeface="Arial"/>
              </a:rPr>
              <a:t> </a:t>
            </a:r>
            <a:r>
              <a:rPr dirty="0"/>
              <a:t>Instant</a:t>
            </a:r>
            <a:r>
              <a:rPr dirty="0" spc="-20"/>
              <a:t> </a:t>
            </a:r>
            <a:r>
              <a:rPr dirty="0"/>
              <a:t>"Intervention</a:t>
            </a:r>
            <a:r>
              <a:rPr dirty="0" spc="-20"/>
              <a:t> </a:t>
            </a:r>
            <a:r>
              <a:rPr dirty="0"/>
              <a:t>Lists"</a:t>
            </a:r>
            <a:r>
              <a:rPr dirty="0" spc="-20"/>
              <a:t> </a:t>
            </a:r>
            <a:r>
              <a:rPr dirty="0" spc="-25"/>
              <a:t>for </a:t>
            </a:r>
            <a:r>
              <a:rPr dirty="0"/>
              <a:t>immediate</a:t>
            </a:r>
            <a:r>
              <a:rPr dirty="0" spc="-30"/>
              <a:t> </a:t>
            </a:r>
            <a:r>
              <a:rPr dirty="0"/>
              <a:t>student</a:t>
            </a:r>
            <a:r>
              <a:rPr dirty="0" spc="-30"/>
              <a:t> </a:t>
            </a:r>
            <a:r>
              <a:rPr dirty="0" spc="-10"/>
              <a:t>support.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365" y="873760"/>
            <a:ext cx="3947236" cy="39472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dirty="0" spc="-35"/>
              <a:t> </a:t>
            </a:r>
            <a:r>
              <a:rPr dirty="0" spc="-10"/>
              <a:t>Statement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14235" y="1261516"/>
            <a:ext cx="4142104" cy="311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345565" indent="-8255">
              <a:lnSpc>
                <a:spcPct val="150000"/>
              </a:lnSpc>
              <a:spcBef>
                <a:spcPts val="1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Problem: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Tech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scarcity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causing underperformance.</a:t>
            </a:r>
            <a:endParaRPr sz="1500">
              <a:latin typeface="Arial"/>
              <a:cs typeface="Arial"/>
            </a:endParaRPr>
          </a:p>
          <a:p>
            <a:pPr marL="12700" marR="8636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Goal: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transform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academic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data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into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insights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data-</a:t>
            </a:r>
            <a:r>
              <a:rPr dirty="0" sz="1500">
                <a:latin typeface="Arial"/>
                <a:cs typeface="Arial"/>
              </a:rPr>
              <a:t>driven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decisions.</a:t>
            </a:r>
            <a:endParaRPr sz="1500">
              <a:latin typeface="Arial"/>
              <a:cs typeface="Arial"/>
            </a:endParaRPr>
          </a:p>
          <a:p>
            <a:pPr marL="12700" marR="508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Target: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build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dashboard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that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helps</a:t>
            </a:r>
            <a:r>
              <a:rPr dirty="0" sz="1500" spc="-2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identify </a:t>
            </a:r>
            <a:r>
              <a:rPr dirty="0" sz="1500">
                <a:latin typeface="Arial"/>
                <a:cs typeface="Arial"/>
              </a:rPr>
              <a:t>student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performance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trends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and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resource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needs.</a:t>
            </a:r>
            <a:endParaRPr sz="1500">
              <a:latin typeface="Arial"/>
              <a:cs typeface="Arial"/>
            </a:endParaRPr>
          </a:p>
          <a:p>
            <a:pPr marL="79375" indent="-74930">
              <a:lnSpc>
                <a:spcPct val="100000"/>
              </a:lnSpc>
              <a:spcBef>
                <a:spcPts val="9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Gap:</a:t>
            </a:r>
            <a:r>
              <a:rPr dirty="0" sz="1500" spc="-6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Manual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tracking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lacks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objective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proof.</a:t>
            </a:r>
            <a:endParaRPr sz="1500">
              <a:latin typeface="Arial"/>
              <a:cs typeface="Arial"/>
            </a:endParaRPr>
          </a:p>
          <a:p>
            <a:pPr marL="12700" marR="64643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Scope: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500-</a:t>
            </a:r>
            <a:r>
              <a:rPr dirty="0" sz="1500">
                <a:latin typeface="Arial"/>
                <a:cs typeface="Arial"/>
              </a:rPr>
              <a:t>student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attendance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&amp;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grade analysis.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424205"/>
          </a:xfrm>
          <a:prstGeom prst="rect">
            <a:avLst/>
          </a:prstGeom>
        </p:spPr>
      </p:pic>
      <p:pic>
        <p:nvPicPr>
          <p:cNvPr id="3" name="object 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80912"/>
            <a:ext cx="9144000" cy="426258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dirty="0" spc="-90"/>
              <a:t> </a:t>
            </a:r>
            <a:r>
              <a:rPr dirty="0" spc="-10"/>
              <a:t>Solution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444499" y="1193850"/>
            <a:ext cx="4250055" cy="3111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93700" indent="-8255">
              <a:lnSpc>
                <a:spcPct val="150000"/>
              </a:lnSpc>
              <a:spcBef>
                <a:spcPts val="1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Approach:</a:t>
            </a:r>
            <a:r>
              <a:rPr dirty="0" sz="1500" spc="-45" b="1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AI-</a:t>
            </a:r>
            <a:r>
              <a:rPr dirty="0" sz="1500">
                <a:latin typeface="Arial"/>
                <a:cs typeface="Arial"/>
              </a:rPr>
              <a:t>Excel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dashboard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mapping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the </a:t>
            </a:r>
            <a:r>
              <a:rPr dirty="0" sz="1500">
                <a:latin typeface="Arial"/>
                <a:cs typeface="Arial"/>
              </a:rPr>
              <a:t>"Digital</a:t>
            </a:r>
            <a:r>
              <a:rPr dirty="0" sz="1500" spc="-7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Divide."</a:t>
            </a:r>
            <a:endParaRPr sz="1500">
              <a:latin typeface="Arial"/>
              <a:cs typeface="Arial"/>
            </a:endParaRPr>
          </a:p>
          <a:p>
            <a:pPr marL="79375" indent="-74930">
              <a:lnSpc>
                <a:spcPct val="100000"/>
              </a:lnSpc>
              <a:spcBef>
                <a:spcPts val="9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Method:</a:t>
            </a:r>
            <a:r>
              <a:rPr dirty="0" sz="1500" spc="-45" b="1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Ai-</a:t>
            </a:r>
            <a:r>
              <a:rPr dirty="0" sz="1500">
                <a:latin typeface="Arial"/>
                <a:cs typeface="Arial"/>
              </a:rPr>
              <a:t>powered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risk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tiering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500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students.</a:t>
            </a:r>
            <a:endParaRPr sz="1500">
              <a:latin typeface="Arial"/>
              <a:cs typeface="Arial"/>
            </a:endParaRPr>
          </a:p>
          <a:p>
            <a:pPr marL="12700" marR="404495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Solution:</a:t>
            </a:r>
            <a:r>
              <a:rPr dirty="0" sz="1500" spc="-5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Dynamic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visuals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replacing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manual tracking.</a:t>
            </a:r>
            <a:endParaRPr sz="1500">
              <a:latin typeface="Arial"/>
              <a:cs typeface="Arial"/>
            </a:endParaRPr>
          </a:p>
          <a:p>
            <a:pPr marL="12700" marR="508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Innovation:</a:t>
            </a:r>
            <a:r>
              <a:rPr dirty="0" sz="1500" spc="-5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Automated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student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risk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classification </a:t>
            </a:r>
            <a:r>
              <a:rPr dirty="0" sz="1500">
                <a:latin typeface="Arial"/>
                <a:cs typeface="Arial"/>
              </a:rPr>
              <a:t>using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AI.</a:t>
            </a:r>
            <a:endParaRPr sz="1500">
              <a:latin typeface="Arial"/>
              <a:cs typeface="Arial"/>
            </a:endParaRPr>
          </a:p>
          <a:p>
            <a:pPr marL="12700" marR="426084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ROI: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Better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resource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allocation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through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data </a:t>
            </a:r>
            <a:r>
              <a:rPr dirty="0" sz="1500" spc="-10">
                <a:latin typeface="Arial"/>
                <a:cs typeface="Arial"/>
              </a:rPr>
              <a:t>insights.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dirty="0" spc="-35"/>
              <a:t> </a:t>
            </a:r>
            <a:r>
              <a:rPr dirty="0" spc="-10"/>
              <a:t>Architecture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416732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35408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Data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Input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0" b="1">
                <a:latin typeface="Arial"/>
                <a:cs typeface="Arial"/>
              </a:rPr>
              <a:t> Source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73433" y="1438058"/>
            <a:ext cx="338772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Ingesting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500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student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profiles;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using </a:t>
            </a:r>
            <a:r>
              <a:rPr dirty="0" sz="1800">
                <a:latin typeface="Calibri"/>
                <a:cs typeface="Calibri"/>
              </a:rPr>
              <a:t>attendance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hardware/internet </a:t>
            </a:r>
            <a:r>
              <a:rPr dirty="0" sz="1800">
                <a:latin typeface="Calibri"/>
                <a:cs typeface="Calibri"/>
              </a:rPr>
              <a:t>reliability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proxy.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602167" y="1243200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4670247" y="1243200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Processing</a:t>
            </a:r>
            <a:r>
              <a:rPr dirty="0" sz="1600" spc="-2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Analysis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146384" y="1444764"/>
            <a:ext cx="275399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Utilizing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Excel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VLOOKUPs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and </a:t>
            </a:r>
            <a:r>
              <a:rPr dirty="0" sz="1800">
                <a:latin typeface="Calibri"/>
                <a:cs typeface="Calibri"/>
              </a:rPr>
              <a:t>Pivot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isolate </a:t>
            </a:r>
            <a:r>
              <a:rPr dirty="0" sz="1800">
                <a:latin typeface="Calibri"/>
                <a:cs typeface="Calibri"/>
              </a:rPr>
              <a:t>performance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gaps.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416732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39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235408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AI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Tool</a:t>
            </a:r>
            <a:r>
              <a:rPr dirty="0" sz="1600" spc="-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Integration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602167" y="2969856"/>
            <a:ext cx="320040" cy="384175"/>
          </a:xfrm>
          <a:custGeom>
            <a:avLst/>
            <a:gdLst/>
            <a:ahLst/>
            <a:cxnLst/>
            <a:rect l="l" t="t" r="r" b="b"/>
            <a:pathLst>
              <a:path w="320040" h="384175">
                <a:moveTo>
                  <a:pt x="320040" y="0"/>
                </a:moveTo>
                <a:lnTo>
                  <a:pt x="0" y="0"/>
                </a:lnTo>
                <a:lnTo>
                  <a:pt x="0" y="384048"/>
                </a:lnTo>
                <a:lnTo>
                  <a:pt x="320040" y="384048"/>
                </a:lnTo>
                <a:lnTo>
                  <a:pt x="320040" y="0"/>
                </a:lnTo>
                <a:close/>
              </a:path>
            </a:pathLst>
          </a:custGeom>
          <a:solidFill>
            <a:srgbClr val="1B398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4670247" y="2969856"/>
            <a:ext cx="3931920" cy="38417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65405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515"/>
              </a:spcBef>
            </a:pPr>
            <a:r>
              <a:rPr dirty="0" sz="1600" b="1">
                <a:latin typeface="Arial"/>
                <a:cs typeface="Arial"/>
              </a:rPr>
              <a:t>Output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/</a:t>
            </a:r>
            <a:r>
              <a:rPr dirty="0" sz="1600" spc="-2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Dashboard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979416" y="3198558"/>
            <a:ext cx="320484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5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Visual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"Digital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Divide"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targeted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38-student </a:t>
            </a:r>
            <a:r>
              <a:rPr dirty="0" sz="1800">
                <a:latin typeface="Calibri"/>
                <a:cs typeface="Calibri"/>
              </a:rPr>
              <a:t>intervention</a:t>
            </a:r>
            <a:r>
              <a:rPr dirty="0" sz="1800" spc="-10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list.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82297" y="3191179"/>
            <a:ext cx="311023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800" spc="-10">
                <a:latin typeface="Arial"/>
                <a:cs typeface="Arial"/>
              </a:rPr>
              <a:t>Gemini-</a:t>
            </a:r>
            <a:r>
              <a:rPr dirty="0" sz="1800">
                <a:latin typeface="Arial"/>
                <a:cs typeface="Arial"/>
              </a:rPr>
              <a:t>architected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nested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IFS </a:t>
            </a:r>
            <a:r>
              <a:rPr dirty="0" sz="1800">
                <a:latin typeface="Arial"/>
                <a:cs typeface="Arial"/>
              </a:rPr>
              <a:t>logic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for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automated,</a:t>
            </a:r>
            <a:r>
              <a:rPr dirty="0" sz="1800" spc="-10">
                <a:latin typeface="Arial"/>
                <a:cs typeface="Arial"/>
              </a:rPr>
              <a:t> unbiased </a:t>
            </a:r>
            <a:r>
              <a:rPr dirty="0" sz="1800">
                <a:latin typeface="Arial"/>
                <a:cs typeface="Arial"/>
              </a:rPr>
              <a:t>risk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tiering.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Live</a:t>
            </a:r>
            <a:r>
              <a:rPr dirty="0" spc="-40"/>
              <a:t> </a:t>
            </a:r>
            <a:r>
              <a:rPr dirty="0"/>
              <a:t>Demo</a:t>
            </a:r>
            <a:r>
              <a:rPr dirty="0" spc="-40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 spc="-10"/>
              <a:t>Project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4226" y="1111159"/>
            <a:ext cx="667130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Here's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list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some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demo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screenshots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/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features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10">
                <a:latin typeface="Arial"/>
                <a:cs typeface="Arial"/>
              </a:rPr>
              <a:t> project: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41029" y="1629181"/>
            <a:ext cx="2801620" cy="3265804"/>
            <a:chOff x="241029" y="1629181"/>
            <a:chExt cx="2801620" cy="3265804"/>
          </a:xfrm>
        </p:grpSpPr>
        <p:sp>
          <p:nvSpPr>
            <p:cNvPr id="5" name="object 5" descr="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78407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41029" y="2229992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74320" y="2209406"/>
            <a:ext cx="2788920" cy="2651760"/>
          </a:xfrm>
          <a:prstGeom prst="rect">
            <a:avLst/>
          </a:prstGeom>
          <a:solidFill>
            <a:srgbClr val="DAE2F3"/>
          </a:solidFill>
        </p:spPr>
        <p:txBody>
          <a:bodyPr wrap="square" lIns="0" tIns="39370" rIns="0" bIns="0" rtlCol="0" vert="horz">
            <a:spAutoFit/>
          </a:bodyPr>
          <a:lstStyle/>
          <a:p>
            <a:pPr marL="175895">
              <a:lnSpc>
                <a:spcPct val="100000"/>
              </a:lnSpc>
              <a:spcBef>
                <a:spcPts val="310"/>
              </a:spcBef>
            </a:pPr>
            <a:r>
              <a:rPr dirty="0" u="sng" sz="22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Github</a:t>
            </a:r>
            <a:r>
              <a:rPr dirty="0" u="sng" sz="2200" spc="-8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2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Repository</a:t>
            </a: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200">
              <a:latin typeface="Arial"/>
              <a:cs typeface="Arial"/>
            </a:endParaRPr>
          </a:p>
          <a:p>
            <a:pPr marL="90805" marR="171450">
              <a:lnSpc>
                <a:spcPct val="99300"/>
              </a:lnSpc>
            </a:pPr>
            <a:r>
              <a:rPr dirty="0" sz="1600" b="1">
                <a:latin typeface="Arial"/>
                <a:cs typeface="Arial"/>
              </a:rPr>
              <a:t>Repo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Link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:-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anushreebhat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</a:rPr>
              <a:t>nagar/st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udent-</a:t>
            </a:r>
            <a:r>
              <a:rPr dirty="0" sz="1400" spc="-1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u="sng" sz="1400" spc="-2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resource-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optimization-dashboard:</a:t>
            </a:r>
            <a:r>
              <a:rPr dirty="0" sz="1400" spc="-10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An</a:t>
            </a:r>
            <a:r>
              <a:rPr dirty="0" u="sng" sz="1400" spc="-4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AI-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architected</a:t>
            </a:r>
            <a:r>
              <a:rPr dirty="0" u="sng" sz="1400" spc="-4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data</a:t>
            </a:r>
            <a:r>
              <a:rPr dirty="0" u="sng" sz="1400" spc="-4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engine</a:t>
            </a:r>
            <a:r>
              <a:rPr dirty="0" u="sng" sz="1400" spc="-4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to</a:t>
            </a:r>
            <a:r>
              <a:rPr dirty="0" sz="1400" spc="-25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identify</a:t>
            </a:r>
            <a:r>
              <a:rPr dirty="0" u="sng" sz="1400" spc="-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student</a:t>
            </a:r>
            <a:r>
              <a:rPr dirty="0" u="sng" sz="1400" spc="-5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vulnerabilities</a:t>
            </a:r>
            <a:r>
              <a:rPr dirty="0" u="sng" sz="1400" spc="-4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 spc="-2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due</a:t>
            </a:r>
            <a:r>
              <a:rPr dirty="0" sz="1400" spc="-25">
                <a:solidFill>
                  <a:srgbClr val="0562C1"/>
                </a:solidFill>
                <a:latin typeface="Calibri"/>
                <a:cs typeface="Calibri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to</a:t>
            </a:r>
            <a:r>
              <a:rPr dirty="0" u="sng" sz="1400" spc="-3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the</a:t>
            </a:r>
            <a:r>
              <a:rPr dirty="0" u="sng" sz="1400" spc="-3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digital</a:t>
            </a:r>
            <a:r>
              <a:rPr dirty="0" u="sng" sz="1400" spc="-35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Calibri"/>
                <a:cs typeface="Calibri"/>
                <a:hlinkClick r:id="rId2"/>
              </a:rPr>
              <a:t>divide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3185401" y="1629181"/>
            <a:ext cx="2801620" cy="3253104"/>
            <a:chOff x="3185401" y="1629181"/>
            <a:chExt cx="2801620" cy="3253104"/>
          </a:xfrm>
        </p:grpSpPr>
        <p:sp>
          <p:nvSpPr>
            <p:cNvPr id="10" name="object 10" descr="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922776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3185401" y="2217470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3218688" y="2196871"/>
            <a:ext cx="2788920" cy="2651760"/>
          </a:xfrm>
          <a:prstGeom prst="rect">
            <a:avLst/>
          </a:prstGeom>
          <a:solidFill>
            <a:srgbClr val="FCF3EC"/>
          </a:solidFill>
        </p:spPr>
        <p:txBody>
          <a:bodyPr wrap="square" lIns="0" tIns="40640" rIns="0" bIns="0" rtlCol="0" vert="horz">
            <a:spAutoFit/>
          </a:bodyPr>
          <a:lstStyle/>
          <a:p>
            <a:pPr marL="238125">
              <a:lnSpc>
                <a:spcPct val="100000"/>
              </a:lnSpc>
              <a:spcBef>
                <a:spcPts val="320"/>
              </a:spcBef>
            </a:pPr>
            <a:r>
              <a:rPr dirty="0" u="sng" sz="1900" spc="49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190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Video</a:t>
            </a:r>
            <a:r>
              <a:rPr dirty="0" u="sng" sz="19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Presentation</a:t>
            </a: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15"/>
              </a:spcBef>
            </a:pPr>
            <a:endParaRPr sz="1900">
              <a:latin typeface="Arial"/>
              <a:cs typeface="Arial"/>
            </a:endParaRPr>
          </a:p>
          <a:p>
            <a:pPr marL="90805" marR="97790">
              <a:lnSpc>
                <a:spcPct val="100000"/>
              </a:lnSpc>
            </a:pPr>
            <a:r>
              <a:rPr dirty="0" sz="1600" b="1">
                <a:latin typeface="Arial"/>
                <a:cs typeface="Arial"/>
              </a:rPr>
              <a:t>Link</a:t>
            </a:r>
            <a:r>
              <a:rPr dirty="0" sz="1600" spc="-10" b="1">
                <a:latin typeface="Arial"/>
                <a:cs typeface="Arial"/>
              </a:rPr>
              <a:t> </a:t>
            </a:r>
            <a:r>
              <a:rPr dirty="0" sz="1600" spc="-25" b="1">
                <a:latin typeface="Arial"/>
                <a:cs typeface="Arial"/>
              </a:rPr>
              <a:t>:-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  <a:hlinkClick r:id="rId3"/>
              </a:rPr>
              <a:t>https://drive.google.com/file/d/1r</a:t>
            </a:r>
            <a:r>
              <a:rPr dirty="0" sz="1400" spc="-10">
                <a:solidFill>
                  <a:srgbClr val="0562C1"/>
                </a:solidFill>
                <a:latin typeface="Arial"/>
                <a:cs typeface="Arial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  <a:hlinkClick r:id="rId3"/>
              </a:rPr>
              <a:t>sfgWNEqscs1tEyo-FiAfv-</a:t>
            </a:r>
            <a:r>
              <a:rPr dirty="0" sz="1400" spc="-10">
                <a:solidFill>
                  <a:srgbClr val="0562C1"/>
                </a:solidFill>
                <a:latin typeface="Arial"/>
                <a:cs typeface="Arial"/>
              </a:rPr>
              <a:t> </a:t>
            </a:r>
            <a:r>
              <a:rPr dirty="0" u="sng" sz="1400" spc="-10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Arial"/>
                <a:cs typeface="Arial"/>
                <a:hlinkClick r:id="rId3"/>
              </a:rPr>
              <a:t>WbBLevHEK/view?usp=drivesdk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6129769" y="1629181"/>
            <a:ext cx="2822575" cy="3256915"/>
            <a:chOff x="6129769" y="1629181"/>
            <a:chExt cx="2822575" cy="3256915"/>
          </a:xfrm>
        </p:grpSpPr>
        <p:sp>
          <p:nvSpPr>
            <p:cNvPr id="15" name="object 15" descr=""/>
            <p:cNvSpPr/>
            <p:nvPr/>
          </p:nvSpPr>
          <p:spPr>
            <a:xfrm>
              <a:off x="6867143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685800" y="0"/>
                  </a:moveTo>
                  <a:lnTo>
                    <a:pt x="637125" y="1735"/>
                  </a:lnTo>
                  <a:lnTo>
                    <a:pt x="589327" y="6862"/>
                  </a:lnTo>
                  <a:lnTo>
                    <a:pt x="542524" y="15261"/>
                  </a:lnTo>
                  <a:lnTo>
                    <a:pt x="496836" y="26812"/>
                  </a:lnTo>
                  <a:lnTo>
                    <a:pt x="452383" y="41394"/>
                  </a:lnTo>
                  <a:lnTo>
                    <a:pt x="409285" y="58889"/>
                  </a:lnTo>
                  <a:lnTo>
                    <a:pt x="367662" y="79177"/>
                  </a:lnTo>
                  <a:lnTo>
                    <a:pt x="327633" y="102137"/>
                  </a:lnTo>
                  <a:lnTo>
                    <a:pt x="289318" y="127650"/>
                  </a:lnTo>
                  <a:lnTo>
                    <a:pt x="252838" y="155596"/>
                  </a:lnTo>
                  <a:lnTo>
                    <a:pt x="218311" y="185855"/>
                  </a:lnTo>
                  <a:lnTo>
                    <a:pt x="185858" y="218308"/>
                  </a:lnTo>
                  <a:lnTo>
                    <a:pt x="155598" y="252835"/>
                  </a:lnTo>
                  <a:lnTo>
                    <a:pt x="127652" y="289315"/>
                  </a:lnTo>
                  <a:lnTo>
                    <a:pt x="102138" y="327630"/>
                  </a:lnTo>
                  <a:lnTo>
                    <a:pt x="79178" y="367659"/>
                  </a:lnTo>
                  <a:lnTo>
                    <a:pt x="58890" y="409282"/>
                  </a:lnTo>
                  <a:lnTo>
                    <a:pt x="41395" y="452381"/>
                  </a:lnTo>
                  <a:lnTo>
                    <a:pt x="26812" y="496834"/>
                  </a:lnTo>
                  <a:lnTo>
                    <a:pt x="15261" y="542522"/>
                  </a:lnTo>
                  <a:lnTo>
                    <a:pt x="6862" y="589326"/>
                  </a:lnTo>
                  <a:lnTo>
                    <a:pt x="1735" y="637125"/>
                  </a:lnTo>
                  <a:lnTo>
                    <a:pt x="0" y="685800"/>
                  </a:lnTo>
                  <a:lnTo>
                    <a:pt x="1735" y="734474"/>
                  </a:lnTo>
                  <a:lnTo>
                    <a:pt x="6862" y="782273"/>
                  </a:lnTo>
                  <a:lnTo>
                    <a:pt x="15261" y="829077"/>
                  </a:lnTo>
                  <a:lnTo>
                    <a:pt x="26812" y="874765"/>
                  </a:lnTo>
                  <a:lnTo>
                    <a:pt x="41395" y="919218"/>
                  </a:lnTo>
                  <a:lnTo>
                    <a:pt x="58890" y="962317"/>
                  </a:lnTo>
                  <a:lnTo>
                    <a:pt x="79178" y="1003940"/>
                  </a:lnTo>
                  <a:lnTo>
                    <a:pt x="102138" y="1043969"/>
                  </a:lnTo>
                  <a:lnTo>
                    <a:pt x="127652" y="1082284"/>
                  </a:lnTo>
                  <a:lnTo>
                    <a:pt x="155598" y="1118764"/>
                  </a:lnTo>
                  <a:lnTo>
                    <a:pt x="185858" y="1153291"/>
                  </a:lnTo>
                  <a:lnTo>
                    <a:pt x="218311" y="1185744"/>
                  </a:lnTo>
                  <a:lnTo>
                    <a:pt x="252838" y="1216003"/>
                  </a:lnTo>
                  <a:lnTo>
                    <a:pt x="289318" y="1243949"/>
                  </a:lnTo>
                  <a:lnTo>
                    <a:pt x="327633" y="1269462"/>
                  </a:lnTo>
                  <a:lnTo>
                    <a:pt x="367662" y="1292422"/>
                  </a:lnTo>
                  <a:lnTo>
                    <a:pt x="409285" y="1312710"/>
                  </a:lnTo>
                  <a:lnTo>
                    <a:pt x="452383" y="1330205"/>
                  </a:lnTo>
                  <a:lnTo>
                    <a:pt x="496836" y="1344787"/>
                  </a:lnTo>
                  <a:lnTo>
                    <a:pt x="542524" y="1356338"/>
                  </a:lnTo>
                  <a:lnTo>
                    <a:pt x="589327" y="1364737"/>
                  </a:lnTo>
                  <a:lnTo>
                    <a:pt x="637125" y="1369864"/>
                  </a:lnTo>
                  <a:lnTo>
                    <a:pt x="685800" y="1371600"/>
                  </a:lnTo>
                  <a:lnTo>
                    <a:pt x="734474" y="1369864"/>
                  </a:lnTo>
                  <a:lnTo>
                    <a:pt x="782272" y="1364737"/>
                  </a:lnTo>
                  <a:lnTo>
                    <a:pt x="829075" y="1356338"/>
                  </a:lnTo>
                  <a:lnTo>
                    <a:pt x="874763" y="1344787"/>
                  </a:lnTo>
                  <a:lnTo>
                    <a:pt x="919216" y="1330205"/>
                  </a:lnTo>
                  <a:lnTo>
                    <a:pt x="962314" y="1312710"/>
                  </a:lnTo>
                  <a:lnTo>
                    <a:pt x="1003937" y="1292422"/>
                  </a:lnTo>
                  <a:lnTo>
                    <a:pt x="1043966" y="1269462"/>
                  </a:lnTo>
                  <a:lnTo>
                    <a:pt x="1082281" y="1243949"/>
                  </a:lnTo>
                  <a:lnTo>
                    <a:pt x="1118761" y="1216003"/>
                  </a:lnTo>
                  <a:lnTo>
                    <a:pt x="1153288" y="1185744"/>
                  </a:lnTo>
                  <a:lnTo>
                    <a:pt x="1185741" y="1153291"/>
                  </a:lnTo>
                  <a:lnTo>
                    <a:pt x="1216001" y="1118764"/>
                  </a:lnTo>
                  <a:lnTo>
                    <a:pt x="1243947" y="1082284"/>
                  </a:lnTo>
                  <a:lnTo>
                    <a:pt x="1269461" y="1043969"/>
                  </a:lnTo>
                  <a:lnTo>
                    <a:pt x="1292421" y="1003940"/>
                  </a:lnTo>
                  <a:lnTo>
                    <a:pt x="1312709" y="962317"/>
                  </a:lnTo>
                  <a:lnTo>
                    <a:pt x="1330204" y="919218"/>
                  </a:lnTo>
                  <a:lnTo>
                    <a:pt x="1344787" y="874765"/>
                  </a:lnTo>
                  <a:lnTo>
                    <a:pt x="1356338" y="829077"/>
                  </a:lnTo>
                  <a:lnTo>
                    <a:pt x="1364737" y="782273"/>
                  </a:lnTo>
                  <a:lnTo>
                    <a:pt x="1369864" y="734474"/>
                  </a:lnTo>
                  <a:lnTo>
                    <a:pt x="1371600" y="685800"/>
                  </a:lnTo>
                  <a:lnTo>
                    <a:pt x="1369864" y="637125"/>
                  </a:lnTo>
                  <a:lnTo>
                    <a:pt x="1364737" y="589326"/>
                  </a:lnTo>
                  <a:lnTo>
                    <a:pt x="1356338" y="542522"/>
                  </a:lnTo>
                  <a:lnTo>
                    <a:pt x="1344787" y="496834"/>
                  </a:lnTo>
                  <a:lnTo>
                    <a:pt x="1330204" y="452381"/>
                  </a:lnTo>
                  <a:lnTo>
                    <a:pt x="1312709" y="409282"/>
                  </a:lnTo>
                  <a:lnTo>
                    <a:pt x="1292421" y="367659"/>
                  </a:lnTo>
                  <a:lnTo>
                    <a:pt x="1269461" y="327630"/>
                  </a:lnTo>
                  <a:lnTo>
                    <a:pt x="1243947" y="289315"/>
                  </a:lnTo>
                  <a:lnTo>
                    <a:pt x="1216001" y="252835"/>
                  </a:lnTo>
                  <a:lnTo>
                    <a:pt x="1185741" y="218308"/>
                  </a:lnTo>
                  <a:lnTo>
                    <a:pt x="1153288" y="185855"/>
                  </a:lnTo>
                  <a:lnTo>
                    <a:pt x="1118761" y="155596"/>
                  </a:lnTo>
                  <a:lnTo>
                    <a:pt x="1082281" y="127650"/>
                  </a:lnTo>
                  <a:lnTo>
                    <a:pt x="1043966" y="102137"/>
                  </a:lnTo>
                  <a:lnTo>
                    <a:pt x="1003937" y="79177"/>
                  </a:lnTo>
                  <a:lnTo>
                    <a:pt x="962314" y="58889"/>
                  </a:lnTo>
                  <a:lnTo>
                    <a:pt x="919216" y="41394"/>
                  </a:lnTo>
                  <a:lnTo>
                    <a:pt x="874763" y="26812"/>
                  </a:lnTo>
                  <a:lnTo>
                    <a:pt x="829075" y="15261"/>
                  </a:lnTo>
                  <a:lnTo>
                    <a:pt x="782272" y="6862"/>
                  </a:lnTo>
                  <a:lnTo>
                    <a:pt x="734474" y="1735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464C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67143" y="1648231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lnTo>
                    <a:pt x="1735" y="637125"/>
                  </a:lnTo>
                  <a:lnTo>
                    <a:pt x="6862" y="589326"/>
                  </a:lnTo>
                  <a:lnTo>
                    <a:pt x="15261" y="542522"/>
                  </a:lnTo>
                  <a:lnTo>
                    <a:pt x="26812" y="496834"/>
                  </a:lnTo>
                  <a:lnTo>
                    <a:pt x="41395" y="452381"/>
                  </a:lnTo>
                  <a:lnTo>
                    <a:pt x="58890" y="409282"/>
                  </a:lnTo>
                  <a:lnTo>
                    <a:pt x="79178" y="367659"/>
                  </a:lnTo>
                  <a:lnTo>
                    <a:pt x="102138" y="327630"/>
                  </a:lnTo>
                  <a:lnTo>
                    <a:pt x="127652" y="289315"/>
                  </a:lnTo>
                  <a:lnTo>
                    <a:pt x="155598" y="252835"/>
                  </a:lnTo>
                  <a:lnTo>
                    <a:pt x="185858" y="218308"/>
                  </a:lnTo>
                  <a:lnTo>
                    <a:pt x="218311" y="185855"/>
                  </a:lnTo>
                  <a:lnTo>
                    <a:pt x="252838" y="155596"/>
                  </a:lnTo>
                  <a:lnTo>
                    <a:pt x="289318" y="127650"/>
                  </a:lnTo>
                  <a:lnTo>
                    <a:pt x="327633" y="102137"/>
                  </a:lnTo>
                  <a:lnTo>
                    <a:pt x="367662" y="79177"/>
                  </a:lnTo>
                  <a:lnTo>
                    <a:pt x="409285" y="58889"/>
                  </a:lnTo>
                  <a:lnTo>
                    <a:pt x="452383" y="41394"/>
                  </a:lnTo>
                  <a:lnTo>
                    <a:pt x="496836" y="26812"/>
                  </a:lnTo>
                  <a:lnTo>
                    <a:pt x="542524" y="15261"/>
                  </a:lnTo>
                  <a:lnTo>
                    <a:pt x="589327" y="6862"/>
                  </a:lnTo>
                  <a:lnTo>
                    <a:pt x="637125" y="1735"/>
                  </a:lnTo>
                  <a:lnTo>
                    <a:pt x="685800" y="0"/>
                  </a:lnTo>
                  <a:lnTo>
                    <a:pt x="734474" y="1735"/>
                  </a:lnTo>
                  <a:lnTo>
                    <a:pt x="782272" y="6862"/>
                  </a:lnTo>
                  <a:lnTo>
                    <a:pt x="829075" y="15261"/>
                  </a:lnTo>
                  <a:lnTo>
                    <a:pt x="874763" y="26812"/>
                  </a:lnTo>
                  <a:lnTo>
                    <a:pt x="919216" y="41394"/>
                  </a:lnTo>
                  <a:lnTo>
                    <a:pt x="962314" y="58889"/>
                  </a:lnTo>
                  <a:lnTo>
                    <a:pt x="1003937" y="79177"/>
                  </a:lnTo>
                  <a:lnTo>
                    <a:pt x="1043966" y="102137"/>
                  </a:lnTo>
                  <a:lnTo>
                    <a:pt x="1082281" y="127650"/>
                  </a:lnTo>
                  <a:lnTo>
                    <a:pt x="1118761" y="155596"/>
                  </a:lnTo>
                  <a:lnTo>
                    <a:pt x="1153288" y="185855"/>
                  </a:lnTo>
                  <a:lnTo>
                    <a:pt x="1185741" y="218308"/>
                  </a:lnTo>
                  <a:lnTo>
                    <a:pt x="1216001" y="252835"/>
                  </a:lnTo>
                  <a:lnTo>
                    <a:pt x="1243947" y="289315"/>
                  </a:lnTo>
                  <a:lnTo>
                    <a:pt x="1269461" y="327630"/>
                  </a:lnTo>
                  <a:lnTo>
                    <a:pt x="1292421" y="367659"/>
                  </a:lnTo>
                  <a:lnTo>
                    <a:pt x="1312709" y="409282"/>
                  </a:lnTo>
                  <a:lnTo>
                    <a:pt x="1330204" y="452381"/>
                  </a:lnTo>
                  <a:lnTo>
                    <a:pt x="1344787" y="496834"/>
                  </a:lnTo>
                  <a:lnTo>
                    <a:pt x="1356338" y="542522"/>
                  </a:lnTo>
                  <a:lnTo>
                    <a:pt x="1364737" y="589326"/>
                  </a:lnTo>
                  <a:lnTo>
                    <a:pt x="1369864" y="637125"/>
                  </a:lnTo>
                  <a:lnTo>
                    <a:pt x="1371600" y="685800"/>
                  </a:lnTo>
                  <a:lnTo>
                    <a:pt x="1369864" y="734474"/>
                  </a:lnTo>
                  <a:lnTo>
                    <a:pt x="1364737" y="782273"/>
                  </a:lnTo>
                  <a:lnTo>
                    <a:pt x="1356338" y="829077"/>
                  </a:lnTo>
                  <a:lnTo>
                    <a:pt x="1344787" y="874765"/>
                  </a:lnTo>
                  <a:lnTo>
                    <a:pt x="1330204" y="919218"/>
                  </a:lnTo>
                  <a:lnTo>
                    <a:pt x="1312709" y="962317"/>
                  </a:lnTo>
                  <a:lnTo>
                    <a:pt x="1292421" y="1003940"/>
                  </a:lnTo>
                  <a:lnTo>
                    <a:pt x="1269461" y="1043969"/>
                  </a:lnTo>
                  <a:lnTo>
                    <a:pt x="1243947" y="1082284"/>
                  </a:lnTo>
                  <a:lnTo>
                    <a:pt x="1216001" y="1118764"/>
                  </a:lnTo>
                  <a:lnTo>
                    <a:pt x="1185741" y="1153291"/>
                  </a:lnTo>
                  <a:lnTo>
                    <a:pt x="1153288" y="1185744"/>
                  </a:lnTo>
                  <a:lnTo>
                    <a:pt x="1118761" y="1216003"/>
                  </a:lnTo>
                  <a:lnTo>
                    <a:pt x="1082281" y="1243949"/>
                  </a:lnTo>
                  <a:lnTo>
                    <a:pt x="1043966" y="1269462"/>
                  </a:lnTo>
                  <a:lnTo>
                    <a:pt x="1003937" y="1292422"/>
                  </a:lnTo>
                  <a:lnTo>
                    <a:pt x="962314" y="1312710"/>
                  </a:lnTo>
                  <a:lnTo>
                    <a:pt x="919216" y="1330205"/>
                  </a:lnTo>
                  <a:lnTo>
                    <a:pt x="874763" y="1344787"/>
                  </a:lnTo>
                  <a:lnTo>
                    <a:pt x="829075" y="1356338"/>
                  </a:lnTo>
                  <a:lnTo>
                    <a:pt x="782272" y="1364737"/>
                  </a:lnTo>
                  <a:lnTo>
                    <a:pt x="734474" y="1369864"/>
                  </a:lnTo>
                  <a:lnTo>
                    <a:pt x="685800" y="1371600"/>
                  </a:lnTo>
                  <a:lnTo>
                    <a:pt x="637125" y="1369864"/>
                  </a:lnTo>
                  <a:lnTo>
                    <a:pt x="589327" y="1364737"/>
                  </a:lnTo>
                  <a:lnTo>
                    <a:pt x="542524" y="1356338"/>
                  </a:lnTo>
                  <a:lnTo>
                    <a:pt x="496836" y="1344787"/>
                  </a:lnTo>
                  <a:lnTo>
                    <a:pt x="452383" y="1330205"/>
                  </a:lnTo>
                  <a:lnTo>
                    <a:pt x="409285" y="1312710"/>
                  </a:lnTo>
                  <a:lnTo>
                    <a:pt x="367662" y="1292422"/>
                  </a:lnTo>
                  <a:lnTo>
                    <a:pt x="327633" y="1269462"/>
                  </a:lnTo>
                  <a:lnTo>
                    <a:pt x="289318" y="1243949"/>
                  </a:lnTo>
                  <a:lnTo>
                    <a:pt x="252838" y="1216003"/>
                  </a:lnTo>
                  <a:lnTo>
                    <a:pt x="218311" y="1185744"/>
                  </a:lnTo>
                  <a:lnTo>
                    <a:pt x="185858" y="1153291"/>
                  </a:lnTo>
                  <a:lnTo>
                    <a:pt x="155598" y="1118764"/>
                  </a:lnTo>
                  <a:lnTo>
                    <a:pt x="127652" y="1082284"/>
                  </a:lnTo>
                  <a:lnTo>
                    <a:pt x="102138" y="1043969"/>
                  </a:lnTo>
                  <a:lnTo>
                    <a:pt x="79178" y="1003940"/>
                  </a:lnTo>
                  <a:lnTo>
                    <a:pt x="58890" y="962317"/>
                  </a:lnTo>
                  <a:lnTo>
                    <a:pt x="41395" y="919218"/>
                  </a:lnTo>
                  <a:lnTo>
                    <a:pt x="26812" y="874765"/>
                  </a:lnTo>
                  <a:lnTo>
                    <a:pt x="15261" y="829077"/>
                  </a:lnTo>
                  <a:lnTo>
                    <a:pt x="6862" y="782273"/>
                  </a:lnTo>
                  <a:lnTo>
                    <a:pt x="1735" y="734474"/>
                  </a:lnTo>
                  <a:lnTo>
                    <a:pt x="0" y="685800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29769" y="2221064"/>
              <a:ext cx="2801620" cy="2664460"/>
            </a:xfrm>
            <a:custGeom>
              <a:avLst/>
              <a:gdLst/>
              <a:ahLst/>
              <a:cxnLst/>
              <a:rect l="l" t="t" r="r" b="b"/>
              <a:pathLst>
                <a:path w="2801620" h="2664460">
                  <a:moveTo>
                    <a:pt x="2801620" y="0"/>
                  </a:moveTo>
                  <a:lnTo>
                    <a:pt x="0" y="0"/>
                  </a:lnTo>
                  <a:lnTo>
                    <a:pt x="0" y="2664460"/>
                  </a:lnTo>
                  <a:lnTo>
                    <a:pt x="2801620" y="2664460"/>
                  </a:lnTo>
                  <a:lnTo>
                    <a:pt x="280162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6163055" y="2200478"/>
              <a:ext cx="2788920" cy="2651760"/>
            </a:xfrm>
            <a:custGeom>
              <a:avLst/>
              <a:gdLst/>
              <a:ahLst/>
              <a:cxnLst/>
              <a:rect l="l" t="t" r="r" b="b"/>
              <a:pathLst>
                <a:path w="2788920" h="2651760">
                  <a:moveTo>
                    <a:pt x="2788920" y="0"/>
                  </a:moveTo>
                  <a:lnTo>
                    <a:pt x="0" y="0"/>
                  </a:lnTo>
                  <a:lnTo>
                    <a:pt x="0" y="2651760"/>
                  </a:lnTo>
                  <a:lnTo>
                    <a:pt x="2788920" y="2651760"/>
                  </a:lnTo>
                  <a:lnTo>
                    <a:pt x="2788920" y="0"/>
                  </a:lnTo>
                  <a:close/>
                </a:path>
              </a:pathLst>
            </a:custGeom>
            <a:solidFill>
              <a:srgbClr val="DAE2F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163055" y="2200478"/>
            <a:ext cx="2788920" cy="695325"/>
          </a:xfrm>
          <a:prstGeom prst="rect">
            <a:avLst/>
          </a:prstGeom>
          <a:solidFill>
            <a:srgbClr val="DAE2F3"/>
          </a:solidFill>
        </p:spPr>
        <p:txBody>
          <a:bodyPr wrap="square" lIns="0" tIns="40640" rIns="0" bIns="0" rtlCol="0" vert="horz">
            <a:spAutoFit/>
          </a:bodyPr>
          <a:lstStyle/>
          <a:p>
            <a:pPr marL="763905">
              <a:lnSpc>
                <a:spcPct val="100000"/>
              </a:lnSpc>
              <a:spcBef>
                <a:spcPts val="320"/>
              </a:spcBef>
            </a:pPr>
            <a:r>
              <a:rPr dirty="0" u="sng" sz="1900" spc="-10" b="1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Dashboard</a:t>
            </a:r>
            <a:endParaRPr sz="1900">
              <a:latin typeface="Arial"/>
              <a:cs typeface="Arial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63055" y="2895676"/>
            <a:ext cx="2788920" cy="1395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11480" y="725576"/>
            <a:ext cx="2620010" cy="279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90"/>
              </a:lnSpc>
            </a:pP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Video</a:t>
            </a:r>
            <a:r>
              <a:rPr dirty="0" sz="2200" spc="-45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of</a:t>
            </a:r>
            <a:r>
              <a:rPr dirty="0" sz="2200" spc="-40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b="1">
                <a:solidFill>
                  <a:srgbClr val="1B3989"/>
                </a:solidFill>
                <a:latin typeface="Calibri"/>
                <a:cs typeface="Calibri"/>
              </a:rPr>
              <a:t>Project</a:t>
            </a:r>
            <a:r>
              <a:rPr dirty="0" sz="2200" spc="-40" b="1">
                <a:solidFill>
                  <a:srgbClr val="1B3989"/>
                </a:solidFill>
                <a:latin typeface="Calibri"/>
                <a:cs typeface="Calibri"/>
              </a:rPr>
              <a:t> </a:t>
            </a:r>
            <a:r>
              <a:rPr dirty="0" sz="2200" spc="-20" b="1">
                <a:solidFill>
                  <a:srgbClr val="1B3989"/>
                </a:solidFill>
                <a:latin typeface="Calibri"/>
                <a:cs typeface="Calibri"/>
              </a:rPr>
              <a:t>Demo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353059" y="673100"/>
            <a:ext cx="8437880" cy="4003040"/>
            <a:chOff x="353059" y="673100"/>
            <a:chExt cx="8437880" cy="4003040"/>
          </a:xfrm>
        </p:grpSpPr>
        <p:sp>
          <p:nvSpPr>
            <p:cNvPr id="4" name="object 4" descr=""/>
            <p:cNvSpPr/>
            <p:nvPr/>
          </p:nvSpPr>
          <p:spPr>
            <a:xfrm>
              <a:off x="365759" y="1069847"/>
              <a:ext cx="8412480" cy="3594100"/>
            </a:xfrm>
            <a:custGeom>
              <a:avLst/>
              <a:gdLst/>
              <a:ahLst/>
              <a:cxnLst/>
              <a:rect l="l" t="t" r="r" b="b"/>
              <a:pathLst>
                <a:path w="8412480" h="3594100">
                  <a:moveTo>
                    <a:pt x="0" y="3593591"/>
                  </a:moveTo>
                  <a:lnTo>
                    <a:pt x="8412480" y="3593591"/>
                  </a:lnTo>
                  <a:lnTo>
                    <a:pt x="8412480" y="0"/>
                  </a:lnTo>
                  <a:lnTo>
                    <a:pt x="0" y="0"/>
                  </a:lnTo>
                  <a:lnTo>
                    <a:pt x="0" y="3593591"/>
                  </a:lnTo>
                  <a:close/>
                </a:path>
              </a:pathLst>
            </a:custGeom>
            <a:solidFill>
              <a:srgbClr val="EBEEF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65759" y="685800"/>
              <a:ext cx="8412480" cy="3977640"/>
            </a:xfrm>
            <a:custGeom>
              <a:avLst/>
              <a:gdLst/>
              <a:ahLst/>
              <a:cxnLst/>
              <a:rect l="l" t="t" r="r" b="b"/>
              <a:pathLst>
                <a:path w="8412480" h="3977640">
                  <a:moveTo>
                    <a:pt x="0" y="0"/>
                  </a:moveTo>
                  <a:lnTo>
                    <a:pt x="8412480" y="0"/>
                  </a:lnTo>
                  <a:lnTo>
                    <a:pt x="8412480" y="3977640"/>
                  </a:lnTo>
                  <a:lnTo>
                    <a:pt x="0" y="3977640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1B398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65759" y="685800"/>
              <a:ext cx="8412480" cy="384175"/>
            </a:xfrm>
            <a:custGeom>
              <a:avLst/>
              <a:gdLst/>
              <a:ahLst/>
              <a:cxnLst/>
              <a:rect l="l" t="t" r="r" b="b"/>
              <a:pathLst>
                <a:path w="8412480" h="384175">
                  <a:moveTo>
                    <a:pt x="841248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8412480" y="384048"/>
                  </a:lnTo>
                  <a:lnTo>
                    <a:pt x="841248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2919" y="777239"/>
              <a:ext cx="164592" cy="164591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1519" y="777239"/>
              <a:ext cx="164592" cy="164591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0119" y="777239"/>
              <a:ext cx="164592" cy="164591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371599" y="777239"/>
              <a:ext cx="5029200" cy="201295"/>
            </a:xfrm>
            <a:custGeom>
              <a:avLst/>
              <a:gdLst/>
              <a:ahLst/>
              <a:cxnLst/>
              <a:rect l="l" t="t" r="r" b="b"/>
              <a:pathLst>
                <a:path w="5029200" h="201294">
                  <a:moveTo>
                    <a:pt x="5029200" y="0"/>
                  </a:moveTo>
                  <a:lnTo>
                    <a:pt x="0" y="0"/>
                  </a:lnTo>
                  <a:lnTo>
                    <a:pt x="0" y="201167"/>
                  </a:lnTo>
                  <a:lnTo>
                    <a:pt x="5029200" y="201167"/>
                  </a:lnTo>
                  <a:lnTo>
                    <a:pt x="5029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1371600" y="777240"/>
            <a:ext cx="5029200" cy="201295"/>
          </a:xfrm>
          <a:prstGeom prst="rect">
            <a:avLst/>
          </a:prstGeom>
          <a:ln w="6349">
            <a:solidFill>
              <a:srgbClr val="CCCCCC"/>
            </a:solidFill>
          </a:ln>
        </p:spPr>
        <p:txBody>
          <a:bodyPr wrap="square" lIns="0" tIns="24765" rIns="0" bIns="0" rtlCol="0" vert="horz">
            <a:spAutoFit/>
          </a:bodyPr>
          <a:lstStyle/>
          <a:p>
            <a:pPr marL="109220">
              <a:lnSpc>
                <a:spcPct val="100000"/>
              </a:lnSpc>
              <a:spcBef>
                <a:spcPts val="195"/>
              </a:spcBef>
            </a:pPr>
            <a:r>
              <a:rPr dirty="0" sz="900" spc="-10">
                <a:solidFill>
                  <a:srgbClr val="5F7C8A"/>
                </a:solidFill>
                <a:latin typeface="Calibri"/>
                <a:cs typeface="Calibri"/>
              </a:rPr>
              <a:t>[https://your-project-demo-link.com]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3749040" y="1828800"/>
            <a:ext cx="1645920" cy="1645920"/>
          </a:xfrm>
          <a:custGeom>
            <a:avLst/>
            <a:gdLst/>
            <a:ahLst/>
            <a:cxnLst/>
            <a:rect l="l" t="t" r="r" b="b"/>
            <a:pathLst>
              <a:path w="1645920" h="1645920">
                <a:moveTo>
                  <a:pt x="822960" y="0"/>
                </a:moveTo>
                <a:lnTo>
                  <a:pt x="774908" y="1408"/>
                </a:lnTo>
                <a:lnTo>
                  <a:pt x="727548" y="5579"/>
                </a:lnTo>
                <a:lnTo>
                  <a:pt x="680959" y="12435"/>
                </a:lnTo>
                <a:lnTo>
                  <a:pt x="635221" y="21894"/>
                </a:lnTo>
                <a:lnTo>
                  <a:pt x="590414" y="33878"/>
                </a:lnTo>
                <a:lnTo>
                  <a:pt x="546618" y="48307"/>
                </a:lnTo>
                <a:lnTo>
                  <a:pt x="503911" y="65100"/>
                </a:lnTo>
                <a:lnTo>
                  <a:pt x="462375" y="84179"/>
                </a:lnTo>
                <a:lnTo>
                  <a:pt x="422087" y="105464"/>
                </a:lnTo>
                <a:lnTo>
                  <a:pt x="383129" y="128874"/>
                </a:lnTo>
                <a:lnTo>
                  <a:pt x="345580" y="154331"/>
                </a:lnTo>
                <a:lnTo>
                  <a:pt x="309519" y="181754"/>
                </a:lnTo>
                <a:lnTo>
                  <a:pt x="275026" y="211065"/>
                </a:lnTo>
                <a:lnTo>
                  <a:pt x="242181" y="242182"/>
                </a:lnTo>
                <a:lnTo>
                  <a:pt x="211064" y="275027"/>
                </a:lnTo>
                <a:lnTo>
                  <a:pt x="181754" y="309520"/>
                </a:lnTo>
                <a:lnTo>
                  <a:pt x="154330" y="345581"/>
                </a:lnTo>
                <a:lnTo>
                  <a:pt x="128874" y="383130"/>
                </a:lnTo>
                <a:lnTo>
                  <a:pt x="105463" y="422088"/>
                </a:lnTo>
                <a:lnTo>
                  <a:pt x="84179" y="462376"/>
                </a:lnTo>
                <a:lnTo>
                  <a:pt x="65100" y="503912"/>
                </a:lnTo>
                <a:lnTo>
                  <a:pt x="48307" y="546619"/>
                </a:lnTo>
                <a:lnTo>
                  <a:pt x="33878" y="590415"/>
                </a:lnTo>
                <a:lnTo>
                  <a:pt x="21894" y="635222"/>
                </a:lnTo>
                <a:lnTo>
                  <a:pt x="12435" y="680960"/>
                </a:lnTo>
                <a:lnTo>
                  <a:pt x="5579" y="727548"/>
                </a:lnTo>
                <a:lnTo>
                  <a:pt x="1408" y="774908"/>
                </a:lnTo>
                <a:lnTo>
                  <a:pt x="0" y="822960"/>
                </a:lnTo>
                <a:lnTo>
                  <a:pt x="1408" y="871011"/>
                </a:lnTo>
                <a:lnTo>
                  <a:pt x="5579" y="918371"/>
                </a:lnTo>
                <a:lnTo>
                  <a:pt x="12435" y="964959"/>
                </a:lnTo>
                <a:lnTo>
                  <a:pt x="21894" y="1010697"/>
                </a:lnTo>
                <a:lnTo>
                  <a:pt x="33878" y="1055504"/>
                </a:lnTo>
                <a:lnTo>
                  <a:pt x="48307" y="1099300"/>
                </a:lnTo>
                <a:lnTo>
                  <a:pt x="65100" y="1142007"/>
                </a:lnTo>
                <a:lnTo>
                  <a:pt x="84179" y="1183543"/>
                </a:lnTo>
                <a:lnTo>
                  <a:pt x="105463" y="1223831"/>
                </a:lnTo>
                <a:lnTo>
                  <a:pt x="128874" y="1262789"/>
                </a:lnTo>
                <a:lnTo>
                  <a:pt x="154330" y="1300338"/>
                </a:lnTo>
                <a:lnTo>
                  <a:pt x="181754" y="1336399"/>
                </a:lnTo>
                <a:lnTo>
                  <a:pt x="211064" y="1370892"/>
                </a:lnTo>
                <a:lnTo>
                  <a:pt x="242181" y="1403737"/>
                </a:lnTo>
                <a:lnTo>
                  <a:pt x="275026" y="1434854"/>
                </a:lnTo>
                <a:lnTo>
                  <a:pt x="309519" y="1464165"/>
                </a:lnTo>
                <a:lnTo>
                  <a:pt x="345580" y="1491588"/>
                </a:lnTo>
                <a:lnTo>
                  <a:pt x="383129" y="1517045"/>
                </a:lnTo>
                <a:lnTo>
                  <a:pt x="422087" y="1540455"/>
                </a:lnTo>
                <a:lnTo>
                  <a:pt x="462375" y="1561740"/>
                </a:lnTo>
                <a:lnTo>
                  <a:pt x="503911" y="1580819"/>
                </a:lnTo>
                <a:lnTo>
                  <a:pt x="546618" y="1597612"/>
                </a:lnTo>
                <a:lnTo>
                  <a:pt x="590414" y="1612041"/>
                </a:lnTo>
                <a:lnTo>
                  <a:pt x="635221" y="1624025"/>
                </a:lnTo>
                <a:lnTo>
                  <a:pt x="680959" y="1633484"/>
                </a:lnTo>
                <a:lnTo>
                  <a:pt x="727548" y="1640340"/>
                </a:lnTo>
                <a:lnTo>
                  <a:pt x="774908" y="1644511"/>
                </a:lnTo>
                <a:lnTo>
                  <a:pt x="822960" y="1645920"/>
                </a:lnTo>
                <a:lnTo>
                  <a:pt x="871011" y="1644511"/>
                </a:lnTo>
                <a:lnTo>
                  <a:pt x="918371" y="1640340"/>
                </a:lnTo>
                <a:lnTo>
                  <a:pt x="964959" y="1633484"/>
                </a:lnTo>
                <a:lnTo>
                  <a:pt x="1010697" y="1624025"/>
                </a:lnTo>
                <a:lnTo>
                  <a:pt x="1055504" y="1612041"/>
                </a:lnTo>
                <a:lnTo>
                  <a:pt x="1099300" y="1597612"/>
                </a:lnTo>
                <a:lnTo>
                  <a:pt x="1142007" y="1580819"/>
                </a:lnTo>
                <a:lnTo>
                  <a:pt x="1183543" y="1561740"/>
                </a:lnTo>
                <a:lnTo>
                  <a:pt x="1223831" y="1540455"/>
                </a:lnTo>
                <a:lnTo>
                  <a:pt x="1262789" y="1517045"/>
                </a:lnTo>
                <a:lnTo>
                  <a:pt x="1300338" y="1491588"/>
                </a:lnTo>
                <a:lnTo>
                  <a:pt x="1336399" y="1464165"/>
                </a:lnTo>
                <a:lnTo>
                  <a:pt x="1370892" y="1434854"/>
                </a:lnTo>
                <a:lnTo>
                  <a:pt x="1403737" y="1403737"/>
                </a:lnTo>
                <a:lnTo>
                  <a:pt x="1434854" y="1370892"/>
                </a:lnTo>
                <a:lnTo>
                  <a:pt x="1464165" y="1336399"/>
                </a:lnTo>
                <a:lnTo>
                  <a:pt x="1491588" y="1300338"/>
                </a:lnTo>
                <a:lnTo>
                  <a:pt x="1517045" y="1262789"/>
                </a:lnTo>
                <a:lnTo>
                  <a:pt x="1540455" y="1223831"/>
                </a:lnTo>
                <a:lnTo>
                  <a:pt x="1561740" y="1183543"/>
                </a:lnTo>
                <a:lnTo>
                  <a:pt x="1580819" y="1142007"/>
                </a:lnTo>
                <a:lnTo>
                  <a:pt x="1597612" y="1099300"/>
                </a:lnTo>
                <a:lnTo>
                  <a:pt x="1612041" y="1055504"/>
                </a:lnTo>
                <a:lnTo>
                  <a:pt x="1624025" y="1010697"/>
                </a:lnTo>
                <a:lnTo>
                  <a:pt x="1633484" y="964959"/>
                </a:lnTo>
                <a:lnTo>
                  <a:pt x="1640340" y="918371"/>
                </a:lnTo>
                <a:lnTo>
                  <a:pt x="1644511" y="871011"/>
                </a:lnTo>
                <a:lnTo>
                  <a:pt x="1645920" y="822960"/>
                </a:lnTo>
                <a:lnTo>
                  <a:pt x="1644511" y="774908"/>
                </a:lnTo>
                <a:lnTo>
                  <a:pt x="1640340" y="727548"/>
                </a:lnTo>
                <a:lnTo>
                  <a:pt x="1633484" y="680960"/>
                </a:lnTo>
                <a:lnTo>
                  <a:pt x="1624025" y="635222"/>
                </a:lnTo>
                <a:lnTo>
                  <a:pt x="1612041" y="590415"/>
                </a:lnTo>
                <a:lnTo>
                  <a:pt x="1597612" y="546619"/>
                </a:lnTo>
                <a:lnTo>
                  <a:pt x="1580819" y="503912"/>
                </a:lnTo>
                <a:lnTo>
                  <a:pt x="1561740" y="462376"/>
                </a:lnTo>
                <a:lnTo>
                  <a:pt x="1540455" y="422088"/>
                </a:lnTo>
                <a:lnTo>
                  <a:pt x="1517045" y="383130"/>
                </a:lnTo>
                <a:lnTo>
                  <a:pt x="1491588" y="345581"/>
                </a:lnTo>
                <a:lnTo>
                  <a:pt x="1464165" y="309520"/>
                </a:lnTo>
                <a:lnTo>
                  <a:pt x="1434854" y="275027"/>
                </a:lnTo>
                <a:lnTo>
                  <a:pt x="1403737" y="242182"/>
                </a:lnTo>
                <a:lnTo>
                  <a:pt x="1370892" y="211065"/>
                </a:lnTo>
                <a:lnTo>
                  <a:pt x="1336399" y="181754"/>
                </a:lnTo>
                <a:lnTo>
                  <a:pt x="1300338" y="154331"/>
                </a:lnTo>
                <a:lnTo>
                  <a:pt x="1262789" y="128874"/>
                </a:lnTo>
                <a:lnTo>
                  <a:pt x="1223831" y="105464"/>
                </a:lnTo>
                <a:lnTo>
                  <a:pt x="1183543" y="84179"/>
                </a:lnTo>
                <a:lnTo>
                  <a:pt x="1142007" y="65100"/>
                </a:lnTo>
                <a:lnTo>
                  <a:pt x="1099300" y="48307"/>
                </a:lnTo>
                <a:lnTo>
                  <a:pt x="1055504" y="33878"/>
                </a:lnTo>
                <a:lnTo>
                  <a:pt x="1010697" y="21894"/>
                </a:lnTo>
                <a:lnTo>
                  <a:pt x="964959" y="12435"/>
                </a:lnTo>
                <a:lnTo>
                  <a:pt x="918371" y="5579"/>
                </a:lnTo>
                <a:lnTo>
                  <a:pt x="871011" y="1408"/>
                </a:lnTo>
                <a:lnTo>
                  <a:pt x="822960" y="0"/>
                </a:lnTo>
                <a:close/>
              </a:path>
            </a:pathLst>
          </a:custGeom>
          <a:solidFill>
            <a:srgbClr val="1B3989">
              <a:alpha val="79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325075" y="2247010"/>
            <a:ext cx="49466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5" b="0">
                <a:solidFill>
                  <a:srgbClr val="FFFFFF"/>
                </a:solidFill>
                <a:latin typeface="Lucida Sans Unicode"/>
                <a:cs typeface="Lucida Sans Unicode"/>
              </a:rPr>
              <a:t>▶</a:t>
            </a:r>
            <a:endParaRPr sz="4800">
              <a:latin typeface="Lucida Sans Unicode"/>
              <a:cs typeface="Lucida Sans Unicode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3399516" y="3902659"/>
            <a:ext cx="234378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[Insert</a:t>
            </a:r>
            <a:r>
              <a:rPr dirty="0" sz="1100" spc="-2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project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demo</a:t>
            </a:r>
            <a:r>
              <a:rPr dirty="0" sz="1100" spc="-2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video.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can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embed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a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video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your</a:t>
            </a:r>
            <a:r>
              <a:rPr dirty="0" sz="1100" spc="-15" i="1">
                <a:solidFill>
                  <a:srgbClr val="5F7C8A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5F7C8A"/>
                </a:solidFill>
                <a:latin typeface="Calibri"/>
                <a:cs typeface="Calibri"/>
              </a:rPr>
              <a:t>live</a:t>
            </a:r>
            <a:r>
              <a:rPr dirty="0" sz="1100" spc="-10" i="1">
                <a:solidFill>
                  <a:srgbClr val="5F7C8A"/>
                </a:solidFill>
                <a:latin typeface="Calibri"/>
                <a:cs typeface="Calibri"/>
              </a:rPr>
              <a:t> project.]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2641" y="768095"/>
            <a:ext cx="8183880" cy="38659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9965" y="971550"/>
            <a:ext cx="3265890" cy="330935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374719" y="1506220"/>
            <a:ext cx="4147185" cy="2082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-8255">
              <a:lnSpc>
                <a:spcPct val="150000"/>
              </a:lnSpc>
              <a:spcBef>
                <a:spcPts val="1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Accomplished:</a:t>
            </a:r>
            <a:r>
              <a:rPr dirty="0" sz="1500" spc="-4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AI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dashboard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replacing</a:t>
            </a:r>
            <a:r>
              <a:rPr dirty="0" sz="1500" spc="-4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manual </a:t>
            </a:r>
            <a:r>
              <a:rPr dirty="0" sz="1500">
                <a:latin typeface="Arial"/>
                <a:cs typeface="Arial"/>
              </a:rPr>
              <a:t>resource</a:t>
            </a:r>
            <a:r>
              <a:rPr dirty="0" sz="1500" spc="-9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tracking.</a:t>
            </a:r>
            <a:endParaRPr sz="1500">
              <a:latin typeface="Arial"/>
              <a:cs typeface="Arial"/>
            </a:endParaRPr>
          </a:p>
          <a:p>
            <a:pPr marL="12700" marR="62992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Key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Finding:</a:t>
            </a:r>
            <a:r>
              <a:rPr dirty="0" sz="1500" spc="-35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Proved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tech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access</a:t>
            </a:r>
            <a:r>
              <a:rPr dirty="0" sz="1500" spc="-3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drives </a:t>
            </a:r>
            <a:r>
              <a:rPr dirty="0" sz="1500">
                <a:latin typeface="Arial"/>
                <a:cs typeface="Arial"/>
              </a:rPr>
              <a:t>attendance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and</a:t>
            </a:r>
            <a:r>
              <a:rPr dirty="0" sz="1500" spc="-6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academic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success.</a:t>
            </a:r>
            <a:endParaRPr sz="1500">
              <a:latin typeface="Arial"/>
              <a:cs typeface="Arial"/>
            </a:endParaRPr>
          </a:p>
          <a:p>
            <a:pPr marL="12700" marR="13462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Impact: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Eliminated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equity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guesswork;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enabled </a:t>
            </a:r>
            <a:r>
              <a:rPr dirty="0" sz="1500">
                <a:latin typeface="Arial"/>
                <a:cs typeface="Arial"/>
              </a:rPr>
              <a:t>hardware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38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high-</a:t>
            </a:r>
            <a:r>
              <a:rPr dirty="0" sz="1500">
                <a:latin typeface="Arial"/>
                <a:cs typeface="Arial"/>
              </a:rPr>
              <a:t>need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students.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35"/>
              <a:t> </a:t>
            </a:r>
            <a:r>
              <a:rPr dirty="0" spc="-20"/>
              <a:t>Scope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1639" y="879613"/>
            <a:ext cx="4512360" cy="338427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401286" y="1351482"/>
            <a:ext cx="4174490" cy="2768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01700" indent="-8255">
              <a:lnSpc>
                <a:spcPct val="150000"/>
              </a:lnSpc>
              <a:spcBef>
                <a:spcPts val="100"/>
              </a:spcBef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Next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Steps:</a:t>
            </a:r>
            <a:r>
              <a:rPr dirty="0" sz="1500" spc="-20" b="1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Transitioning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to</a:t>
            </a:r>
            <a:r>
              <a:rPr dirty="0" sz="1500" spc="-2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live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LMS </a:t>
            </a:r>
            <a:r>
              <a:rPr dirty="0" sz="1500" spc="-10">
                <a:latin typeface="Arial"/>
                <a:cs typeface="Arial"/>
              </a:rPr>
              <a:t>integration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via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20">
                <a:latin typeface="Arial"/>
                <a:cs typeface="Arial"/>
              </a:rPr>
              <a:t>API.</a:t>
            </a:r>
            <a:endParaRPr sz="1500">
              <a:latin typeface="Arial"/>
              <a:cs typeface="Arial"/>
            </a:endParaRPr>
          </a:p>
          <a:p>
            <a:pPr marL="12700" marR="214629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Predictive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AI:</a:t>
            </a:r>
            <a:r>
              <a:rPr dirty="0" sz="1500" spc="-30" b="1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Forecasting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early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dropout</a:t>
            </a:r>
            <a:r>
              <a:rPr dirty="0" sz="1500" spc="-3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risks </a:t>
            </a:r>
            <a:r>
              <a:rPr dirty="0" sz="1500">
                <a:latin typeface="Arial"/>
                <a:cs typeface="Arial"/>
              </a:rPr>
              <a:t>using</a:t>
            </a:r>
            <a:r>
              <a:rPr dirty="0" sz="1500" spc="-6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ML.</a:t>
            </a:r>
            <a:endParaRPr sz="1500">
              <a:latin typeface="Arial"/>
              <a:cs typeface="Arial"/>
            </a:endParaRPr>
          </a:p>
          <a:p>
            <a:pPr marL="12700" marR="508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b="1">
                <a:latin typeface="Arial"/>
                <a:cs typeface="Arial"/>
              </a:rPr>
              <a:t>	</a:t>
            </a:r>
            <a:r>
              <a:rPr dirty="0" sz="1500" b="1">
                <a:latin typeface="Arial"/>
                <a:cs typeface="Arial"/>
              </a:rPr>
              <a:t>Automation:</a:t>
            </a:r>
            <a:r>
              <a:rPr dirty="0" sz="1500" spc="-50" b="1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Trigger-</a:t>
            </a:r>
            <a:r>
              <a:rPr dirty="0" sz="1500">
                <a:latin typeface="Arial"/>
                <a:cs typeface="Arial"/>
              </a:rPr>
              <a:t>based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funding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for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"Critical" </a:t>
            </a:r>
            <a:r>
              <a:rPr dirty="0" sz="1500">
                <a:latin typeface="Arial"/>
                <a:cs typeface="Arial"/>
              </a:rPr>
              <a:t>tier</a:t>
            </a:r>
            <a:r>
              <a:rPr dirty="0" sz="1500" spc="-15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students.</a:t>
            </a:r>
            <a:endParaRPr sz="1500">
              <a:latin typeface="Arial"/>
              <a:cs typeface="Arial"/>
            </a:endParaRPr>
          </a:p>
          <a:p>
            <a:pPr marL="12700" marR="328930" indent="-8255">
              <a:lnSpc>
                <a:spcPct val="150000"/>
              </a:lnSpc>
              <a:buSzPct val="93333"/>
              <a:buFont typeface="Arial"/>
              <a:buChar char="•"/>
              <a:tabLst>
                <a:tab pos="79375" algn="l"/>
              </a:tabLst>
            </a:pPr>
            <a:r>
              <a:rPr dirty="0" sz="1500" spc="-10" b="1">
                <a:latin typeface="Arial"/>
                <a:cs typeface="Arial"/>
              </a:rPr>
              <a:t>	</a:t>
            </a:r>
            <a:r>
              <a:rPr dirty="0" sz="1500" spc="-10" b="1">
                <a:latin typeface="Arial"/>
                <a:cs typeface="Arial"/>
              </a:rPr>
              <a:t>Long-</a:t>
            </a:r>
            <a:r>
              <a:rPr dirty="0" sz="1500" b="1">
                <a:latin typeface="Arial"/>
                <a:cs typeface="Arial"/>
              </a:rPr>
              <a:t>Term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 b="1">
                <a:latin typeface="Arial"/>
                <a:cs typeface="Arial"/>
              </a:rPr>
              <a:t>Impact:</a:t>
            </a:r>
            <a:r>
              <a:rPr dirty="0" sz="1500" spc="-40" b="1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Scaling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methodology</a:t>
            </a:r>
            <a:r>
              <a:rPr dirty="0" sz="1500" spc="-40">
                <a:latin typeface="Arial"/>
                <a:cs typeface="Arial"/>
              </a:rPr>
              <a:t> </a:t>
            </a:r>
            <a:r>
              <a:rPr dirty="0" sz="1500" spc="-25">
                <a:latin typeface="Arial"/>
                <a:cs typeface="Arial"/>
              </a:rPr>
              <a:t>to </a:t>
            </a:r>
            <a:r>
              <a:rPr dirty="0" sz="1500">
                <a:latin typeface="Arial"/>
                <a:cs typeface="Arial"/>
              </a:rPr>
              <a:t>close</a:t>
            </a:r>
            <a:r>
              <a:rPr dirty="0" sz="1500" spc="-55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the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global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>
                <a:latin typeface="Arial"/>
                <a:cs typeface="Arial"/>
              </a:rPr>
              <a:t>Digital</a:t>
            </a:r>
            <a:r>
              <a:rPr dirty="0" sz="1500" spc="-5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Divide.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96745" algn="l"/>
                <a:tab pos="2117725" algn="l"/>
              </a:tabLst>
            </a:pPr>
            <a:r>
              <a:rPr dirty="0" spc="-10"/>
              <a:t>A</a:t>
            </a:r>
            <a:r>
              <a:rPr dirty="0" spc="-190"/>
              <a:t> </a:t>
            </a:r>
            <a:r>
              <a:rPr dirty="0"/>
              <a:t>I</a:t>
            </a:r>
            <a:r>
              <a:rPr dirty="0" spc="-190"/>
              <a:t> </a:t>
            </a:r>
            <a:r>
              <a:rPr dirty="0" spc="-20"/>
              <a:t>C</a:t>
            </a:r>
            <a:r>
              <a:rPr dirty="0" spc="-185"/>
              <a:t> </a:t>
            </a:r>
            <a:r>
              <a:rPr dirty="0"/>
              <a:t>W</a:t>
            </a:r>
            <a:r>
              <a:rPr dirty="0" spc="400"/>
              <a:t> </a:t>
            </a:r>
            <a:r>
              <a:rPr dirty="0"/>
              <a:t>F</a:t>
            </a:r>
            <a:r>
              <a:rPr dirty="0" spc="-190"/>
              <a:t> </a:t>
            </a:r>
            <a:r>
              <a:rPr dirty="0"/>
              <a:t>e</a:t>
            </a:r>
            <a:r>
              <a:rPr dirty="0" spc="-185"/>
              <a:t> </a:t>
            </a:r>
            <a:r>
              <a:rPr dirty="0" spc="-10"/>
              <a:t>l</a:t>
            </a:r>
            <a:r>
              <a:rPr dirty="0" spc="-190"/>
              <a:t> </a:t>
            </a:r>
            <a:r>
              <a:rPr dirty="0" spc="-10"/>
              <a:t>l</a:t>
            </a:r>
            <a:r>
              <a:rPr dirty="0" spc="-190"/>
              <a:t> </a:t>
            </a:r>
            <a:r>
              <a:rPr dirty="0"/>
              <a:t>o</a:t>
            </a:r>
            <a:r>
              <a:rPr dirty="0" spc="-185"/>
              <a:t> </a:t>
            </a:r>
            <a:r>
              <a:rPr dirty="0" spc="-20"/>
              <a:t>w</a:t>
            </a:r>
            <a:r>
              <a:rPr dirty="0" spc="-190"/>
              <a:t> </a:t>
            </a:r>
            <a:r>
              <a:rPr dirty="0"/>
              <a:t>s</a:t>
            </a:r>
            <a:r>
              <a:rPr dirty="0" spc="-190"/>
              <a:t> </a:t>
            </a:r>
            <a:r>
              <a:rPr dirty="0"/>
              <a:t>h</a:t>
            </a:r>
            <a:r>
              <a:rPr dirty="0" spc="-185"/>
              <a:t> </a:t>
            </a:r>
            <a:r>
              <a:rPr dirty="0" spc="-10"/>
              <a:t>i</a:t>
            </a:r>
            <a:r>
              <a:rPr dirty="0" spc="-190"/>
              <a:t> </a:t>
            </a:r>
            <a:r>
              <a:rPr dirty="0" spc="-60"/>
              <a:t>p</a:t>
            </a:r>
            <a:r>
              <a:rPr dirty="0"/>
              <a:t>	</a:t>
            </a:r>
            <a:r>
              <a:rPr dirty="0" spc="-50"/>
              <a:t>|</a:t>
            </a:r>
            <a:r>
              <a:rPr dirty="0"/>
              <a:t>	</a:t>
            </a:r>
            <a:r>
              <a:rPr dirty="0" spc="-10"/>
              <a:t>S</a:t>
            </a:r>
            <a:r>
              <a:rPr dirty="0" spc="-190"/>
              <a:t> </a:t>
            </a:r>
            <a:r>
              <a:rPr dirty="0"/>
              <a:t>t</a:t>
            </a:r>
            <a:r>
              <a:rPr dirty="0" spc="-190"/>
              <a:t> </a:t>
            </a:r>
            <a:r>
              <a:rPr dirty="0"/>
              <a:t>u</a:t>
            </a:r>
            <a:r>
              <a:rPr dirty="0" spc="-190"/>
              <a:t> </a:t>
            </a:r>
            <a:r>
              <a:rPr dirty="0"/>
              <a:t>d</a:t>
            </a:r>
            <a:r>
              <a:rPr dirty="0" spc="-190"/>
              <a:t> </a:t>
            </a:r>
            <a:r>
              <a:rPr dirty="0"/>
              <a:t>e</a:t>
            </a:r>
            <a:r>
              <a:rPr dirty="0" spc="-190"/>
              <a:t> </a:t>
            </a:r>
            <a:r>
              <a:rPr dirty="0"/>
              <a:t>n</a:t>
            </a:r>
            <a:r>
              <a:rPr dirty="0" spc="-190"/>
              <a:t> </a:t>
            </a:r>
            <a:r>
              <a:rPr dirty="0"/>
              <a:t>t</a:t>
            </a:r>
            <a:r>
              <a:rPr dirty="0" spc="395"/>
              <a:t> </a:t>
            </a:r>
            <a:r>
              <a:rPr dirty="0" spc="-10"/>
              <a:t>P</a:t>
            </a:r>
            <a:r>
              <a:rPr dirty="0" spc="-190"/>
              <a:t> </a:t>
            </a:r>
            <a:r>
              <a:rPr dirty="0"/>
              <a:t>r</a:t>
            </a:r>
            <a:r>
              <a:rPr dirty="0" spc="-190"/>
              <a:t> </a:t>
            </a:r>
            <a:r>
              <a:rPr dirty="0"/>
              <a:t>o</a:t>
            </a:r>
            <a:r>
              <a:rPr dirty="0" spc="-185"/>
              <a:t> </a:t>
            </a:r>
            <a:r>
              <a:rPr dirty="0" spc="-10"/>
              <a:t>j</a:t>
            </a:r>
            <a:r>
              <a:rPr dirty="0" spc="-190"/>
              <a:t> </a:t>
            </a:r>
            <a:r>
              <a:rPr dirty="0"/>
              <a:t>e</a:t>
            </a:r>
            <a:r>
              <a:rPr dirty="0" spc="-190"/>
              <a:t> </a:t>
            </a:r>
            <a:r>
              <a:rPr dirty="0"/>
              <a:t>c</a:t>
            </a:r>
            <a:r>
              <a:rPr dirty="0" spc="-190"/>
              <a:t> </a:t>
            </a:r>
            <a:r>
              <a:rPr dirty="0"/>
              <a:t>t</a:t>
            </a:r>
            <a:r>
              <a:rPr dirty="0" spc="395"/>
              <a:t> </a:t>
            </a:r>
            <a:r>
              <a:rPr dirty="0" spc="-10"/>
              <a:t>P</a:t>
            </a:r>
            <a:r>
              <a:rPr dirty="0" spc="-190"/>
              <a:t> </a:t>
            </a:r>
            <a:r>
              <a:rPr dirty="0"/>
              <a:t>r</a:t>
            </a:r>
            <a:r>
              <a:rPr dirty="0" spc="-190"/>
              <a:t> </a:t>
            </a:r>
            <a:r>
              <a:rPr dirty="0"/>
              <a:t>e</a:t>
            </a:r>
            <a:r>
              <a:rPr dirty="0" spc="-190"/>
              <a:t> </a:t>
            </a:r>
            <a:r>
              <a:rPr dirty="0"/>
              <a:t>s</a:t>
            </a:r>
            <a:r>
              <a:rPr dirty="0" spc="-190"/>
              <a:t> </a:t>
            </a:r>
            <a:r>
              <a:rPr dirty="0"/>
              <a:t>e</a:t>
            </a:r>
            <a:r>
              <a:rPr dirty="0" spc="-185"/>
              <a:t> </a:t>
            </a:r>
            <a:r>
              <a:rPr dirty="0"/>
              <a:t>n</a:t>
            </a:r>
            <a:r>
              <a:rPr dirty="0" spc="-190"/>
              <a:t> </a:t>
            </a:r>
            <a:r>
              <a:rPr dirty="0"/>
              <a:t>t</a:t>
            </a:r>
            <a:r>
              <a:rPr dirty="0" spc="-190"/>
              <a:t> </a:t>
            </a:r>
            <a:r>
              <a:rPr dirty="0"/>
              <a:t>a</a:t>
            </a:r>
            <a:r>
              <a:rPr dirty="0" spc="-190"/>
              <a:t> </a:t>
            </a:r>
            <a:r>
              <a:rPr dirty="0"/>
              <a:t>t</a:t>
            </a:r>
            <a:r>
              <a:rPr dirty="0" spc="-190"/>
              <a:t> </a:t>
            </a:r>
            <a:r>
              <a:rPr dirty="0" spc="-10"/>
              <a:t>i</a:t>
            </a:r>
            <a:r>
              <a:rPr dirty="0" spc="-190"/>
              <a:t> </a:t>
            </a:r>
            <a:r>
              <a:rPr dirty="0"/>
              <a:t>o</a:t>
            </a:r>
            <a:r>
              <a:rPr dirty="0" spc="-190"/>
              <a:t> </a:t>
            </a:r>
            <a:r>
              <a:rPr dirty="0"/>
              <a:t>n</a:t>
            </a:r>
            <a:r>
              <a:rPr dirty="0" spc="395"/>
              <a:t> </a:t>
            </a:r>
            <a:r>
              <a:rPr dirty="0"/>
              <a:t>2</a:t>
            </a:r>
            <a:r>
              <a:rPr dirty="0" spc="-190"/>
              <a:t> </a:t>
            </a:r>
            <a:r>
              <a:rPr dirty="0"/>
              <a:t>0</a:t>
            </a:r>
            <a:r>
              <a:rPr dirty="0" spc="-185"/>
              <a:t> </a:t>
            </a:r>
            <a:r>
              <a:rPr dirty="0"/>
              <a:t>2</a:t>
            </a:r>
            <a:r>
              <a:rPr dirty="0" spc="-190"/>
              <a:t> </a:t>
            </a:r>
            <a:r>
              <a:rPr dirty="0" spc="-50"/>
              <a:t>6</a:t>
            </a:r>
          </a:p>
          <a:p>
            <a:pPr>
              <a:lnSpc>
                <a:spcPct val="100000"/>
              </a:lnSpc>
              <a:spcBef>
                <a:spcPts val="855"/>
              </a:spcBef>
            </a:pPr>
          </a:p>
          <a:p>
            <a:pPr algn="ctr" marL="101600">
              <a:lnSpc>
                <a:spcPct val="100000"/>
              </a:lnSpc>
            </a:pPr>
            <a:r>
              <a:rPr dirty="0" sz="1100"/>
              <a:t>LinkedIn</a:t>
            </a:r>
            <a:r>
              <a:rPr dirty="0" sz="1100" spc="260"/>
              <a:t> </a:t>
            </a:r>
            <a:r>
              <a:rPr dirty="0" sz="1100"/>
              <a:t>|</a:t>
            </a:r>
            <a:r>
              <a:rPr dirty="0" sz="1100" spc="125"/>
              <a:t>  </a:t>
            </a:r>
            <a:r>
              <a:rPr dirty="0" sz="1100"/>
              <a:t>Edunet</a:t>
            </a:r>
            <a:r>
              <a:rPr dirty="0" sz="1100" spc="-20"/>
              <a:t> </a:t>
            </a:r>
            <a:r>
              <a:rPr dirty="0" sz="1100" spc="-10"/>
              <a:t>Foundation</a:t>
            </a:r>
            <a:endParaRPr sz="1100"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58035" algn="l"/>
              </a:tabLst>
            </a:pPr>
            <a:r>
              <a:rPr dirty="0" sz="5000" spc="-10">
                <a:solidFill>
                  <a:srgbClr val="0D358D"/>
                </a:solidFill>
              </a:rPr>
              <a:t>Thank</a:t>
            </a:r>
            <a:r>
              <a:rPr dirty="0" sz="5000">
                <a:solidFill>
                  <a:srgbClr val="0D358D"/>
                </a:solidFill>
              </a:rPr>
              <a:t>	</a:t>
            </a:r>
            <a:r>
              <a:rPr dirty="0" sz="5000" spc="-25">
                <a:solidFill>
                  <a:srgbClr val="0D358D"/>
                </a:solidFill>
              </a:rPr>
              <a:t>You</a:t>
            </a:r>
            <a:endParaRPr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2026-04-10T15:54:00Z</dcterms:created>
  <dcterms:modified xsi:type="dcterms:W3CDTF">2026-04-10T15:54:00Z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LastSaved">
    <vt:filetime>2026-04-10T00:00:00Z</vt:filetime>
  </property>
  <property fmtid="{D5CDD505-2E9C-101B-9397-08002B2CF9AE}" pid="4" name="Producer">
    <vt:lpwstr>3-Heights(TM) PDF Security Shell 4.8.25.2 (http://www.pdf-tools.com)</vt:lpwstr>
  </property>
</Properties>
</file>